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 de abertura. Não é palestra de futurologia nem tutorial de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"Vocês já sabem ler um paper e já sabem programar. O que falta é saber o que acontece entre apertar Enter e a resposta aparecer. Nesta aula a gente abre essa caixa. Na próxima, vocês operam ela."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reaparece no início de cada bloco, com o item da vez destacado. É a barra de progresso conceitual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Público já conhece classificador. A ponte é essa. O generativo repete a pergunta a cada token — é o que torna a saída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 para mostrar um tokenizador ao vivo, é o maior retorno visual do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já se planta a limitação estrutural que fecha 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Intuição, sem matriz. O ponto único: o custo não cresce em linha reta, e é isso que origina o limite de contexto. Não é decisão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Amostragem é menção de 1 minuto. O que importa é a consequência, que volta no Bloco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o bloco. Cada uma volta adiante: alucinação no Bloco 5, data de corte no tool use, ausência de estado já no Bloco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maior parte do que o modelo lê não foi escrita naquele turno. Este é o slide mais importante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simulador oficial. Se alguém perguntar de onde vêm, a fonte está no rodapé do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sobe, latência sobe, e o relevante começa a competir com o histórico. É a explicação mecânica de "conversa longa degrada".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Honestidade: o resumo perde detalhe. Daí a decisão consciente entre compactar e abrir sessão nova.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resposta prática à ausência de estado do Bloco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é botão de "ficar mais inteligente". É alocação de orçamento.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 modelo nunca executa nada — ele pede." Para este público, é a frase que destrava o bloco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Mapear cada etapa no que acabou de ser descrito. O laço encerra quando o modelo devolve texto em vez de pedir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explícita para a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Procedimento no SKILL.md, configuração nos arquivos de apoio. É o que separa quem reusa skills de quem continua colando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economia fica visível em vez de afirmada. É a resposta direta ao problema do Bloco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Nomes de modelo mudam; o critério capacidade × latência × custo não. Dizer isso em voz alta protege o material do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usar qual: pensar no Chat, delegar no Cowork, executar no repositório com 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o aluno fotografa. Deixar tempo para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bloco é organizado por tipo de trabalho justamente porque o laboratório tem domínios muito diferentes. Ninguém precisa traduzir do domínio alheio para o seu.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aqui que hooks reaparecem: o jeito determinístico de garantir isso em torno de um modelo que não é determinístico.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Vocês vão usar plan mode na Aula 2, no primeiro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Consultar a política oficial de privacidade e uso de dados, não a opinião de quem está no palco. Este slide é o mais importante do bloco para quem pesquisa saúde e educação.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este slide no ar por alguns segundos a mais. É o único ponto da aula sem margem para interpretação.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Nada assinado por você entra sem você ter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para a Aula 2 e cobrança do pré-requisito. Repetir que o pré-requisito é o que devolve tempo real de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aberto durante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201168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45433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7F6F2"/>
                </a:solidFill>
                <a:latin typeface="Georgia"/>
              </a:rPr>
              <a:t>IA Generativa, LLMs e o ecossistema Claude</a:t>
            </a:r>
          </a:p>
          <a:p>
            <a:pPr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 i="0">
                <a:solidFill>
                  <a:srgbClr val="7FA8C9"/>
                </a:solidFill>
                <a:latin typeface="Segoe UI"/>
              </a:rPr>
              <a:t>Aula 1 — dos fundamentos ao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892040"/>
            <a:ext cx="104543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6F2"/>
                </a:solidFill>
                <a:latin typeface="Segoe UI"/>
              </a:rPr>
              <a:t>Paulo E. R. Araujo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Laboratório de Computação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Seminário — IA Generativa, LLMs e o ecossistema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esta aula entrega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Ao final das duas aulas você abre o Claude no seu próprio projeto e sabe o que acontece em cada camada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1: por que uma LLM se comporta como se comporta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2: você constrói um agente do zero, com orquestrador, skills e material de apoio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Doze conceitos operacionais. Toda a teoria existe para sustentá-los, não o contrário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ordem desta aula não é estética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25295"/>
            <a:ext cx="104543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A6E76"/>
                </a:solidFill>
                <a:latin typeface="Segoe UI"/>
              </a:rPr>
              <a:t>Cada conceito depende do anterior. Por isso começamos por baixo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719072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ram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423" y="1993391"/>
            <a:ext cx="7096849" cy="3950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1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Fundamentos: por que o modelo faz o que faz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famílias, dois objetivos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vo-gene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25" y="1609343"/>
            <a:ext cx="9738643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Token: a unidade que importa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3744047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palavra nem caractere: é o pedaço que o modelo enxerga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a unidade de **custo**, de **limite** e de **latência**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Português rende mais tokens que inglês para o mesmo conteúdo</a:t>
            </a:r>
          </a:p>
        </p:txBody>
      </p:sp>
      <p:pic>
        <p:nvPicPr>
          <p:cNvPr id="5" name="Picture 4" descr="tokeniz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327" y="2341344"/>
            <a:ext cx="6481687" cy="28702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1327" y="5961888"/>
            <a:ext cx="648168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Segmentação ilustrativa; a divisão exata depende do tokenizador do modelo.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Predição do próximo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estima uma distribuição sobre o vocabulário e escolhe o próximo token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Repete o processo, agora incluindo o que acabou de gerar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existe um passo em que ele consulta uma base de fatos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resposta é construída, não recuperada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daí a alucinação não ser um defeito de implementação, e sim o modo de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Atenção: de onde vem o limite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81" y="1609343"/>
            <a:ext cx="10090331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Curva ilustrativa do número de pares de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etapas de treinamento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**Pré-treino**: prever texto em larga escala. Produz capacidade bruta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**Post-training**: alinhar a modelo de assistente útil e seguro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preferências de formato que ninguém programou explicitamente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também por que dois modelos com dados parecidos se comportam diferente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**Amostragem e temperatura**: mesmo prompt, saídas diferentes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consequência direta: não é reprodutível por construção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limitações estruturais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**Alucinação** — gera o plausível, não o verdadeiro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**Data de corte** — não conhece o que veio depois do treinamento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**Ausência de estado** — cada requisição começa do zero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as três decorrem do mecanismo que acabamos de ver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nenhuma delas é bug a ser corrigido na próxima versão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modelo não busca, ele completa. Por isso toda saída que você for citar em um paper precisa ser verificada por você — e por isso escrever em português custa mais caro que em inglês.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2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Anatomia de uma requisição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é enviado a cada turno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rcamento-jane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9" y="1609343"/>
            <a:ext cx="9476315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janela é um orçamento, não uma memória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200 mil tokens no padrão; 1 milhão em modelos de janela estendida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"quanto ele lembra": é quanto cabe **nesta** requisição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Cada leitura de arquivo debita do mesmo orçamento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um arquivo de código médio custa entre 1.100 e 2.400 tokens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dez arquivos e o orçamento do turno já mudou de figura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Sessão: o modelo é stateless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ssao-statel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45" y="1609343"/>
            <a:ext cx="9441403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Valores ilustrativos.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Dois contrapesos do 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3744047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**Prompt caching** — o prefixo repetido é cacheado e sai muito mais barato que a primeira vez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sem isso, o reenvio a cada turno seria inviável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sessão longa é cara em janela, menos em dinheiro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**Compaction** — quando a janela satura, a conversa é resumida e recomeça</a:t>
            </a:r>
          </a:p>
        </p:txBody>
      </p:sp>
      <p:pic>
        <p:nvPicPr>
          <p:cNvPr id="5" name="Picture 4" descr="comp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327" y="2459099"/>
            <a:ext cx="6481687" cy="2634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1327" y="5961888"/>
            <a:ext cx="648168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do Claude Code (set.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atravessa sessões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**Contexto persistente**: `CLAUDE.md` no Code, Projects e memória no Chat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Entra **sempre**, em toda requisição — ao contrário do material de apoio, que entra sob demanda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Consequência dupla: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demais nele é caro, porque o custo é recorrente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bem nele é a alavanca de maior retorno que existe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Modelo, thinking e effort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**Modelo**: capacidade × latência × custo. Não existe escolha universalmente certa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**Thinking**: o modelo raciocina antes de responder — e esse raciocínio também são tokens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**Effort**: quanto desse raciocínio investir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níveis disponíveis: `low`, `medium`, `high`, `xhigh`, `max`; padrão `high`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mecânica com effort alto é tempo e dinheiro jogados fora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de projeto com effort baixo é retrabalho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Conversa longa degrada porque o histórico inteiro volta a cada turno e empurra o que importa para o meio do ruído. Por isso vale abrir sessão nova quando o assunto muda — e por isso vale escrever o CLAUDE.md uma vez em vez de reexplicar o projeto toda vez.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3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Do sistema ao agente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Tool use, apresentado como protocolo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servidor expõe ferramentas com nome, descrição e schema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cliente injeta essa lista no contexto do modelo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responde **pedindo** uma chamada; o cliente executa e devolve o resultado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MCP é o protocolo aberto que padroniza esse contrato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mesma ferramenta serve a qualquer cliente que fale o protocolo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co-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798" y="1609343"/>
            <a:ext cx="8338097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Agente orquestrador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Quem roda o laço: mantém o objetivo, escolhe a ferramenta, decide quando delegar e quando parar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um **papel**, não um produto — o mesmo papel aparece nos três produtos da próxima seção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No Claude Code, esse papel é descrito em texto, no `CLAUDE.md` do projeto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literalmente Markdown: sem formato secreto, sem API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o que vocês vão escrever na Aula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Skills e o material de apoio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kill-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966" y="1609343"/>
            <a:ext cx="9173762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de Agent Skills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Subagents: comprar janela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b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003" y="1609343"/>
            <a:ext cx="8911688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Contexto é o recurso escasso, e você tem três formas de gastá-lo menos: skill em vez de repetir instrução, material de apoio em vez de colar documentação, subagente em vez de ler dez arquivos no contexto principal.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4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Claude concreto: três interfaces, uma base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portas para o mesmo prédio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s-produ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084" y="1609343"/>
            <a:ext cx="9355526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961888"/>
            <a:ext cx="10454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Chat e Cowork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**Chat** — a porta de entrada do pesquisador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Projects e memória fazem o papel de contexto persistente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connectors são tool use com outra roupa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**Cowork** — trabalho delegado sobre arquivos e tarefas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dispatch e times de agentes são o orquestrador com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**Code** — o agente dentro do repositório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`CLAUDE.md`, skills, material de apoio e subagents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quatro superfícies: terminal, IDE, aplicativo de desktop e web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**Hooks** — comando determinístico em torno de um núcleo estocástico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a ponte para reprodutibilidade, que volta no próximo bloco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**Checkpointing** — desfazer o que o agente fez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5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Aplicação em pesquisa em computação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**Entender artefato herdado**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simulador que o aluno anterior deixou, um pipeline, um protótipo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código sem ninguém para explicá-lo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**Analisar resultado experimental**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saída de simulação, log, captura, planilha de coleta, questionário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volume acima da leitura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**Levantar e organizar literatura**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triagem, extração de critérios, tabela comparativa de revisão sistemática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ressalva: o modelo não é fonte bibliográfica, e sim ferramenta de organização sobre o que você forneceu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**Apoiar a escrita** — estrutura, clareza, revisão de argumento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Atravessando os quatro: **reprodutibilidade**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que o agente fez precisa virar script, commit e ambiente registrados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Permissões: o portão do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Um agente com acesso ao repositório edita arquivos e executa comandos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Modos de permissão definem o portão: pedir aprovação, aceitar edições, ou planejar antes de agir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**Plan mode**: o agente mostra o plano e espera. Você lê antes de qualquer escrita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Regra prática: repositório de terceiro, base de coleta ou artefato que você não pode recriar começa em plan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Dados sensíveis: duas categorias, duas réguas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**Dado técnico**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credencial, chave, endereço de infraestrutura, identificador de rede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política da instituição e bom senso operacional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**Dado de pessoa**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prontuário, registro de aluno, resposta de questionário, qualquer coisa sob TCLE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o protocolo de pesquisa e a LGPD, não o que a ferramenta permite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régua do dado de pessoa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Se o consentimento não previu processamento por serviço de terceiro, o dado não sai da máquina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Anonimização é decisão de projeto, não etapa improvisada na véspera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Na dúvida, o caminho é o comitê de ética, não a documentação da ferramenta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Verificação e honestidade acadêmica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Saída plausível não é saída correta — o Bloco 1 já mostrou por quê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que o modelo produz é rascunho até você rodar, conferir e reproduzir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Duas armadilhas específicas do nosso trabalho: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referência bibliográfica inventada com aparência perfeita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resultado numérico produzido sem que nada tenha sido executado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Declarar o uso conforme a norma do programa e do veículo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agente acelera a parte mecânica e não assume nenhuma responsabilidade. A assinatura no paper é sua, então a verificação também é — e o dado que saiu do seu computador não volta.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14884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468880"/>
            <a:ext cx="1045433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7F6F2"/>
                </a:solidFill>
                <a:latin typeface="Georgia"/>
              </a:rPr>
              <a:t>Na próxima aula, vocês constroem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Um agente que busca o que saiu na semana anterior na sua área e escreve uma newsletter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Do zero: orquestrador, skills e material de apoio, escritos com o próprio agente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Para chegar pronto: Claude Code instalado e testado, e 4 a 6 fontes da sua área com as URLs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Quem chegar sem isso perde os primeiros quinze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oficial do Claude Code — code.claude.com/docs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de Agent Skills e do formato `SKILL.md`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Central de ajuda do Claude: Projects, memória, connectors e Cowork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Política de privacidade e de uso de dados da Anthropic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Espelho local consultado para esta aula, com data de captura registrada no repositório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Referências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