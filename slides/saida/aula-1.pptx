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min de abertura. Não é palestra de futurologia nem tutorial de prompt.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"Vocês já sabem ler um paper e já sabem programar. O que falta é saber o que acontece entre apertar Enter e a resposta aparecer. Nesta aula a gente abre essa caixa. Na próxima, vocês operam ela."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slide reaparece no início de cada bloco, com o item da vez destacado. É a barra de progresso conceitual da aula. Adiantar uma frase: tudo isto acontece dentro de uma aplicação, o harness, que é o primeiro assunto do próximo bloco.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Público já conhece classificador. A ponte é essa. O generativo repete a pergunta a cada token — é o que torna a saída aberta.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 der para mostrar um tokenizador ao vivo, é o maior retorno visual do bloco.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Aqui já se planta a limitação estrutural que fecha o bloco.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Intuição, sem matriz. O ponto único: o custo não cresce em linha reta, e é isso que origina o limite de contexto. Não é decisão comercial.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Amostragem é menção de 1 minuto. O que importa é a consequência, que volta no Bloco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Fecha o bloco. Cada uma volta adiante: alucinação no Bloco 5, data de corte no tool use, ausência de estado já no próximo slide. Deixar a pergunta no ar antes de virar: se o modelo não guarda nada e não executa nada, quem faz o resto?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pergunta que fechou o Bloco 1: se o modelo não guarda estado e não executa nada, quem faz o resto? Esta figura é a resposta. O modelo é uma função de texto para texto; a sessão, a memória, os arquivos e as ferramentas são todos do harness. Termo oficial, não apelido: "Claude Code is the harness; Claude is the model inside it".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Cada linha aqui é um bloco desta aula. Dizer isso em voz alta: o resto da aula é detalhar o que esta caixa faz. Notar que o portão de permissões é do harness — é justamente por isso que ele é confiável.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maior parte do que o modelo lê não foi escrita naquele turno. Este é o slide mais importante da aula.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Números do simulador oficial. Se alguém perguntar de onde vêm, a fonte está no rodapé do slide anterior.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 sobe, latência sobe, e o relevante começa a competir com o histórico. É a explicação mecânica de "conversa longa degrada".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Honestidade: o resumo perde detalhe. Daí a decisão consciente entre compactar e abrir sessão nova.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 a resposta prática à ausência de estado do Bloco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Não é botão de "ficar mais inteligente". É alocação de orçamento.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"O modelo nunca executa nada — ele pede." Para este público, é a frase que destrava o bloco inteiro.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Ler a figura de cima para baixo, narrando. O ponto que fica: nada aqui é chamada de função. É texto estruturado indo e voltando, e o `stop_reason` é o que diz ao harness se o laço continua ou para.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 tudo a mesma conversa — por isso ela cresce tão rápido. Sem canal separado para máquina, resultado de ferramenta ocupa a mesma janela do Bloco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Essas três regras são do harness, não suas. Servem para explicar por que o agente às vezes "esquece" de paralelizar: normalmente é o laço que foi mal implementado, não o modelo.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Mapear cada etapa no que acabou de ser descrito. Quem percorre este laço é o harness: ele é que chama o modelo, executa o que foi pedido e decide se roda outra volta. O laço encerra quando o modelo devolve texto em vez de pedir ferramenta.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Ponte explícita para a prática.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Procedimento no SKILL.md, configuração nos arquivos de apoio. É o que separa quem reusa skills de quem continua colando prompt.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economia fica visível em vez de afirmada. É a resposta direta ao problema do Bloco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Retomar o Bloco 2 com uma frase: Chat, Cowork e Code são três harnesses sobre o mesmo modelo. O que muda entre eles é o que o harness faz por você, não a inteligência por trás. E nomes de modelo mudam; o critério capacidade × latência × custo não — dizer isso em voz alta protege o material do tempo.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Quando usar qual: pensar no Chat, delegar no Cowork, executar no repositório com o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é o slide que o aluno fotografa. Deixar tempo para isso.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bloco é organizado por tipo de trabalho justamente porque o laboratório tem domínios muito diferentes. Ninguém precisa traduzir do domínio alheio para o seu.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 aqui que hooks reaparecem: o jeito determinístico de garantir isso em torno de um modelo que não é determinístico.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Vocês vão usar plan mode na Aula 2, no primeiro passo.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Consultar a política oficial de privacidade e uso de dados, não a opinião de quem está no palco. Este slide é o mais importante do bloco para quem pesquisa saúde e educação.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Deixar este slide no ar por alguns segundos a mais. É o único ponto da aula sem margem para interpretação.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Nada assinado por você entra sem você ter verificado.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Ponte para a Aula 2 e cobrança do pré-requisito. Repetir que o pré-requisito é o que devolve tempo real de prática.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Deixar aberto durante as perguntas.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9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2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2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2331720"/>
            <a:ext cx="2011680" cy="31750"/>
          </a:xfrm>
          <a:prstGeom prst="rect">
            <a:avLst/>
          </a:prstGeom>
          <a:solidFill>
            <a:srgbClr val="BC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606040"/>
            <a:ext cx="10454335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F7F6F2"/>
                </a:solidFill>
                <a:latin typeface="Georgia"/>
              </a:rPr>
              <a:t>IA Generativa, LLMs e o ecossistema Claude</a:t>
            </a:r>
          </a:p>
          <a:p>
            <a:pPr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</a:pPr>
            <a:r>
              <a:rPr sz="1800" b="0" i="0">
                <a:solidFill>
                  <a:srgbClr val="7FA8C9"/>
                </a:solidFill>
                <a:latin typeface="Segoe UI"/>
              </a:rPr>
              <a:t>Aula 1 — dos fundamentos ao agente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4892040"/>
            <a:ext cx="1045433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7F6F2"/>
                </a:solidFill>
                <a:latin typeface="Segoe UI"/>
              </a:rPr>
              <a:t>Paulo E. R. Araujo</a:t>
            </a: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1250" b="0" i="0">
                <a:solidFill>
                  <a:srgbClr val="7FA8C9"/>
                </a:solidFill>
                <a:latin typeface="Segoe UI"/>
              </a:rPr>
              <a:t>Laboratório de Computação</a:t>
            </a: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1250" b="0" i="0">
                <a:solidFill>
                  <a:srgbClr val="7FA8C9"/>
                </a:solidFill>
                <a:latin typeface="Segoe UI"/>
              </a:rPr>
              <a:t>Seminário — IA Generativa, LLMs e o ecossistema Claude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66928"/>
            <a:ext cx="1045433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16181D"/>
                </a:solidFill>
                <a:latin typeface="Georgia"/>
              </a:rPr>
              <a:t>O que esta aula entrega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335024"/>
            <a:ext cx="10454335" cy="12700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09343"/>
            <a:ext cx="10454335" cy="4562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6181D"/>
                </a:solidFill>
                <a:latin typeface="Segoe UI"/>
              </a:rPr>
              <a:t>—  Ao final das duas aulas você abre o Claude no seu próprio projeto e sabe o que acontece em cada camada</a:t>
            </a:r>
          </a:p>
          <a:p>
            <a:pPr>
              <a:lnSpc>
                <a:spcPct val="122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 i="0">
                <a:solidFill>
                  <a:srgbClr val="16181D"/>
                </a:solidFill>
                <a:latin typeface="Segoe UI"/>
              </a:rPr>
              <a:t>—  Aula 1: por que uma LLM se comporta como se comporta</a:t>
            </a:r>
          </a:p>
          <a:p>
            <a:pPr>
              <a:lnSpc>
                <a:spcPct val="122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 i="0">
                <a:solidFill>
                  <a:srgbClr val="16181D"/>
                </a:solidFill>
                <a:latin typeface="Segoe UI"/>
              </a:rPr>
              <a:t>—  Aula 2: você constrói um agente do zero, com orquestrador, skills e material de apoio</a:t>
            </a:r>
          </a:p>
          <a:p>
            <a:pPr>
              <a:lnSpc>
                <a:spcPct val="122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 i="0">
                <a:solidFill>
                  <a:srgbClr val="16181D"/>
                </a:solidFill>
                <a:latin typeface="Segoe UI"/>
              </a:rPr>
              <a:t>—  Treze conceitos operacionais. Toda a teoria existe para sustentá-los, não o contrário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355080"/>
            <a:ext cx="990569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E76"/>
                </a:solidFill>
                <a:latin typeface="Segoe UI"/>
              </a:rPr>
              <a:t>Paulo E. R. Araujo · Abertura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4375" y="6355080"/>
            <a:ext cx="548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E76"/>
                </a:solidFill>
                <a:latin typeface="Segoe U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66928"/>
            <a:ext cx="1045433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16181D"/>
                </a:solidFill>
                <a:latin typeface="Georgia"/>
              </a:rPr>
              <a:t>A ordem desta aula não é estética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225295"/>
            <a:ext cx="10454335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A6E76"/>
                </a:solidFill>
                <a:latin typeface="Segoe UI"/>
              </a:rPr>
              <a:t>Cada conceito depende do anterior. Por isso começamos por baixo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719072"/>
            <a:ext cx="10454335" cy="12700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iram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7423" y="1993391"/>
            <a:ext cx="7096849" cy="39502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47423" y="5998464"/>
            <a:ext cx="709684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6A6E76"/>
                </a:solidFill>
                <a:latin typeface="Segoe UI"/>
              </a:rPr>
              <a:t>Elaboração própria.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6355080"/>
            <a:ext cx="990569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E76"/>
                </a:solidFill>
                <a:latin typeface="Segoe UI"/>
              </a:rPr>
              <a:t>Paulo E. R. Araujo · Abertura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375" y="6355080"/>
            <a:ext cx="548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E76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2788920"/>
            <a:ext cx="1463040" cy="31750"/>
          </a:xfrm>
          <a:prstGeom prst="rect">
            <a:avLst/>
          </a:prstGeom>
          <a:solidFill>
            <a:srgbClr val="BC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063240"/>
            <a:ext cx="10454335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F7F6F2"/>
                </a:solidFill>
                <a:latin typeface="Georgia"/>
              </a:rPr>
              <a:t>Bloco 1</a:t>
            </a:r>
          </a:p>
          <a:p>
            <a:pPr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1600" b="0" i="0">
                <a:solidFill>
                  <a:srgbClr val="7FA8C9"/>
                </a:solidFill>
                <a:latin typeface="Segoe UI"/>
              </a:rPr>
              <a:t>Fundamentos: por que o modelo faz o que faz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66928"/>
            <a:ext cx="1045433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16181D"/>
                </a:solidFill>
                <a:latin typeface="Georgia"/>
              </a:rPr>
              <a:t>Duas famílias, dois objetivos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335024"/>
            <a:ext cx="10454335" cy="12700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iscriminativo-generativ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556" y="1609343"/>
            <a:ext cx="9850581" cy="43342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70556" y="5998464"/>
            <a:ext cx="9850581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6A6E76"/>
                </a:solidFill>
                <a:latin typeface="Segoe UI"/>
              </a:rPr>
              <a:t>Elaboração própria.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355080"/>
            <a:ext cx="990569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E76"/>
                </a:solidFill>
                <a:latin typeface="Segoe UI"/>
              </a:rPr>
              <a:t>Paulo E. R. Araujo · 1 · Fundamentos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355080"/>
            <a:ext cx="548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E76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66928"/>
            <a:ext cx="1045433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16181D"/>
                </a:solidFill>
                <a:latin typeface="Georgia"/>
              </a:rPr>
              <a:t>Token: a unidade que importa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335024"/>
            <a:ext cx="10454335" cy="12700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09343"/>
            <a:ext cx="4162220" cy="4562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6181D"/>
                </a:solidFill>
                <a:latin typeface="Segoe UI"/>
              </a:rPr>
              <a:t>—  Não é palavra nem caractere: é o pedaço que o modelo enxerga</a:t>
            </a:r>
          </a:p>
          <a:p>
            <a:pPr>
              <a:lnSpc>
                <a:spcPct val="122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 i="0">
                <a:solidFill>
                  <a:srgbClr val="16181D"/>
                </a:solidFill>
                <a:latin typeface="Segoe UI"/>
              </a:rPr>
              <a:t>—  É a unidade de </a:t>
            </a:r>
            <a:r>
              <a:rPr sz="1900" b="1" i="0">
                <a:solidFill>
                  <a:srgbClr val="16181D"/>
                </a:solidFill>
                <a:latin typeface="Segoe UI"/>
              </a:rPr>
              <a:t>custo</a:t>
            </a:r>
            <a:r>
              <a:rPr sz="1900" b="0" i="0">
                <a:solidFill>
                  <a:srgbClr val="16181D"/>
                </a:solidFill>
                <a:latin typeface="Segoe UI"/>
              </a:rPr>
              <a:t>, de </a:t>
            </a:r>
            <a:r>
              <a:rPr sz="1900" b="1" i="0">
                <a:solidFill>
                  <a:srgbClr val="16181D"/>
                </a:solidFill>
                <a:latin typeface="Segoe UI"/>
              </a:rPr>
              <a:t>limite</a:t>
            </a:r>
            <a:r>
              <a:rPr sz="1900" b="0" i="0">
                <a:solidFill>
                  <a:srgbClr val="16181D"/>
                </a:solidFill>
                <a:latin typeface="Segoe UI"/>
              </a:rPr>
              <a:t> e de </a:t>
            </a:r>
            <a:r>
              <a:rPr sz="1900" b="1" i="0">
                <a:solidFill>
                  <a:srgbClr val="16181D"/>
                </a:solidFill>
                <a:latin typeface="Segoe UI"/>
              </a:rPr>
              <a:t>latência</a:t>
            </a:r>
          </a:p>
          <a:p>
            <a:pPr>
              <a:lnSpc>
                <a:spcPct val="122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 i="0">
                <a:solidFill>
                  <a:srgbClr val="16181D"/>
                </a:solidFill>
                <a:latin typeface="Segoe UI"/>
              </a:rPr>
              <a:t>—  Português rende mais tokens que inglês para o mesmo conteúdo</a:t>
            </a:r>
          </a:p>
        </p:txBody>
      </p:sp>
      <p:pic>
        <p:nvPicPr>
          <p:cNvPr id="5" name="Picture 4" descr="tokeniza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9500" y="2433933"/>
            <a:ext cx="6063514" cy="268507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259500" y="5173874"/>
            <a:ext cx="606351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6A6E76"/>
                </a:solidFill>
                <a:latin typeface="Segoe UI"/>
              </a:rPr>
              <a:t>Segmentação ilustrativa; a divisão exata depende do tokenizador do modelo.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6355080"/>
            <a:ext cx="990569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E76"/>
                </a:solidFill>
                <a:latin typeface="Segoe UI"/>
              </a:rPr>
              <a:t>Paulo E. R. Araujo · 1 · Fundamentos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375" y="6355080"/>
            <a:ext cx="548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E76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66928"/>
            <a:ext cx="1045433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16181D"/>
                </a:solidFill>
                <a:latin typeface="Georgia"/>
              </a:rPr>
              <a:t>Predição do próximo token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335024"/>
            <a:ext cx="10454335" cy="12700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09343"/>
            <a:ext cx="10454335" cy="4562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6181D"/>
                </a:solidFill>
                <a:latin typeface="Segoe UI"/>
              </a:rPr>
              <a:t>—  O modelo estima uma distribuição sobre o vocabulário e escolhe o próximo token</a:t>
            </a:r>
          </a:p>
          <a:p>
            <a:pPr>
              <a:lnSpc>
                <a:spcPct val="122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 i="0">
                <a:solidFill>
                  <a:srgbClr val="16181D"/>
                </a:solidFill>
                <a:latin typeface="Segoe UI"/>
              </a:rPr>
              <a:t>—  Repete o processo, agora incluindo o que acabou de gerar</a:t>
            </a:r>
          </a:p>
          <a:p>
            <a:pPr>
              <a:lnSpc>
                <a:spcPct val="122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 i="0">
                <a:solidFill>
                  <a:srgbClr val="16181D"/>
                </a:solidFill>
                <a:latin typeface="Segoe UI"/>
              </a:rPr>
              <a:t>—  Não existe um passo em que ele consulta uma base de fatos</a:t>
            </a:r>
          </a:p>
          <a:p>
            <a:pPr lvl="1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</a:pPr>
            <a:r>
              <a:rPr sz="1600" b="0" i="0">
                <a:solidFill>
                  <a:srgbClr val="6A6E76"/>
                </a:solidFill>
                <a:latin typeface="Segoe UI"/>
              </a:rPr>
              <a:t>·  a resposta é construída, não recuperada</a:t>
            </a:r>
          </a:p>
          <a:p>
            <a:pPr lvl="1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</a:pPr>
            <a:r>
              <a:rPr sz="1600" b="0" i="0">
                <a:solidFill>
                  <a:srgbClr val="6A6E76"/>
                </a:solidFill>
                <a:latin typeface="Segoe UI"/>
              </a:rPr>
              <a:t>·  daí a alucinação não ser um defeito de implementação, e sim o modo de operação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355080"/>
            <a:ext cx="990569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E76"/>
                </a:solidFill>
                <a:latin typeface="Segoe UI"/>
              </a:rPr>
              <a:t>Paulo E. R. Araujo · 1 · Fundamentos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4375" y="6355080"/>
            <a:ext cx="548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E76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66928"/>
            <a:ext cx="1045433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16181D"/>
                </a:solidFill>
                <a:latin typeface="Georgia"/>
              </a:rPr>
              <a:t>Atenção: de onde vem o limite de contexto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335024"/>
            <a:ext cx="10454335" cy="12700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ten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681" y="1609343"/>
            <a:ext cx="10090331" cy="43342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50681" y="5998464"/>
            <a:ext cx="10090331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6A6E76"/>
                </a:solidFill>
                <a:latin typeface="Segoe UI"/>
              </a:rPr>
              <a:t>Elaboração própria. Curva ilustrativa do número de pares de tokens.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355080"/>
            <a:ext cx="990569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E76"/>
                </a:solidFill>
                <a:latin typeface="Segoe UI"/>
              </a:rPr>
              <a:t>Paulo E. R. Araujo · 1 · Fundamentos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355080"/>
            <a:ext cx="548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E76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66928"/>
            <a:ext cx="1045433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16181D"/>
                </a:solidFill>
                <a:latin typeface="Georgia"/>
              </a:rPr>
              <a:t>Duas etapas de treinamento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335024"/>
            <a:ext cx="10454335" cy="12700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09343"/>
            <a:ext cx="10454335" cy="4562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6181D"/>
                </a:solidFill>
                <a:latin typeface="Segoe UI"/>
              </a:rPr>
              <a:t>—  </a:t>
            </a:r>
            <a:r>
              <a:rPr sz="1900" b="1" i="0">
                <a:solidFill>
                  <a:srgbClr val="16181D"/>
                </a:solidFill>
                <a:latin typeface="Segoe UI"/>
              </a:rPr>
              <a:t>Pré-treino</a:t>
            </a:r>
            <a:r>
              <a:rPr sz="1900" b="0" i="0">
                <a:solidFill>
                  <a:srgbClr val="16181D"/>
                </a:solidFill>
                <a:latin typeface="Segoe UI"/>
              </a:rPr>
              <a:t>: prever texto em larga escala. Produz capacidade bruta</a:t>
            </a:r>
          </a:p>
          <a:p>
            <a:pPr>
              <a:lnSpc>
                <a:spcPct val="122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 i="0">
                <a:solidFill>
                  <a:srgbClr val="16181D"/>
                </a:solidFill>
                <a:latin typeface="Segoe UI"/>
              </a:rPr>
              <a:t>—  </a:t>
            </a:r>
            <a:r>
              <a:rPr sz="1900" b="1" i="0">
                <a:solidFill>
                  <a:srgbClr val="16181D"/>
                </a:solidFill>
                <a:latin typeface="Segoe UI"/>
              </a:rPr>
              <a:t>Post-training</a:t>
            </a:r>
            <a:r>
              <a:rPr sz="1900" b="0" i="0">
                <a:solidFill>
                  <a:srgbClr val="16181D"/>
                </a:solidFill>
                <a:latin typeface="Segoe UI"/>
              </a:rPr>
              <a:t>: alinhar a modelo de assistente útil e seguro</a:t>
            </a:r>
          </a:p>
          <a:p>
            <a:pPr lvl="1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</a:pPr>
            <a:r>
              <a:rPr sz="1600" b="0" i="0">
                <a:solidFill>
                  <a:srgbClr val="6A6E76"/>
                </a:solidFill>
                <a:latin typeface="Segoe UI"/>
              </a:rPr>
              <a:t>·  explica preferências de formato que ninguém programou explicitamente</a:t>
            </a:r>
          </a:p>
          <a:p>
            <a:pPr lvl="1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</a:pPr>
            <a:r>
              <a:rPr sz="1600" b="0" i="0">
                <a:solidFill>
                  <a:srgbClr val="6A6E76"/>
                </a:solidFill>
                <a:latin typeface="Segoe UI"/>
              </a:rPr>
              <a:t>·  explica também por que dois modelos com dados parecidos se comportam diferente</a:t>
            </a:r>
          </a:p>
          <a:p>
            <a:pPr>
              <a:lnSpc>
                <a:spcPct val="122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 i="0">
                <a:solidFill>
                  <a:srgbClr val="16181D"/>
                </a:solidFill>
                <a:latin typeface="Segoe UI"/>
              </a:rPr>
              <a:t>—  </a:t>
            </a:r>
            <a:r>
              <a:rPr sz="1900" b="1" i="0">
                <a:solidFill>
                  <a:srgbClr val="16181D"/>
                </a:solidFill>
                <a:latin typeface="Segoe UI"/>
              </a:rPr>
              <a:t>Amostragem e temperatura</a:t>
            </a:r>
            <a:r>
              <a:rPr sz="1900" b="0" i="0">
                <a:solidFill>
                  <a:srgbClr val="16181D"/>
                </a:solidFill>
                <a:latin typeface="Segoe UI"/>
              </a:rPr>
              <a:t>: mesmo prompt, saídas diferentes</a:t>
            </a:r>
          </a:p>
          <a:p>
            <a:pPr lvl="1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</a:pPr>
            <a:r>
              <a:rPr sz="1600" b="0" i="0">
                <a:solidFill>
                  <a:srgbClr val="6A6E76"/>
                </a:solidFill>
                <a:latin typeface="Segoe UI"/>
              </a:rPr>
              <a:t>·  consequência direta: não é reprodutível por construção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355080"/>
            <a:ext cx="990569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E76"/>
                </a:solidFill>
                <a:latin typeface="Segoe UI"/>
              </a:rPr>
              <a:t>Paulo E. R. Araujo · 1 · Fundamentos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4375" y="6355080"/>
            <a:ext cx="548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E76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66928"/>
            <a:ext cx="1045433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16181D"/>
                </a:solidFill>
                <a:latin typeface="Georgia"/>
              </a:rPr>
              <a:t>Três limitações estruturais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335024"/>
            <a:ext cx="10454335" cy="12700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09343"/>
            <a:ext cx="10454335" cy="4562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6181D"/>
                </a:solidFill>
                <a:latin typeface="Segoe UI"/>
              </a:rPr>
              <a:t>—  </a:t>
            </a:r>
            <a:r>
              <a:rPr sz="1900" b="1" i="0">
                <a:solidFill>
                  <a:srgbClr val="16181D"/>
                </a:solidFill>
                <a:latin typeface="Segoe UI"/>
              </a:rPr>
              <a:t>Alucinação</a:t>
            </a:r>
            <a:r>
              <a:rPr sz="1900" b="0" i="0">
                <a:solidFill>
                  <a:srgbClr val="16181D"/>
                </a:solidFill>
                <a:latin typeface="Segoe UI"/>
              </a:rPr>
              <a:t> — gera o plausível, não o verdadeiro</a:t>
            </a:r>
          </a:p>
          <a:p>
            <a:pPr>
              <a:lnSpc>
                <a:spcPct val="122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 i="0">
                <a:solidFill>
                  <a:srgbClr val="16181D"/>
                </a:solidFill>
                <a:latin typeface="Segoe UI"/>
              </a:rPr>
              <a:t>—  </a:t>
            </a:r>
            <a:r>
              <a:rPr sz="1900" b="1" i="0">
                <a:solidFill>
                  <a:srgbClr val="16181D"/>
                </a:solidFill>
                <a:latin typeface="Segoe UI"/>
              </a:rPr>
              <a:t>Data de corte</a:t>
            </a:r>
            <a:r>
              <a:rPr sz="1900" b="0" i="0">
                <a:solidFill>
                  <a:srgbClr val="16181D"/>
                </a:solidFill>
                <a:latin typeface="Segoe UI"/>
              </a:rPr>
              <a:t> — não conhece o que veio depois do treinamento</a:t>
            </a:r>
          </a:p>
          <a:p>
            <a:pPr>
              <a:lnSpc>
                <a:spcPct val="122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 i="0">
                <a:solidFill>
                  <a:srgbClr val="16181D"/>
                </a:solidFill>
                <a:latin typeface="Segoe UI"/>
              </a:rPr>
              <a:t>—  </a:t>
            </a:r>
            <a:r>
              <a:rPr sz="1900" b="1" i="0">
                <a:solidFill>
                  <a:srgbClr val="16181D"/>
                </a:solidFill>
                <a:latin typeface="Segoe UI"/>
              </a:rPr>
              <a:t>Ausência de estado</a:t>
            </a:r>
            <a:r>
              <a:rPr sz="1900" b="0" i="0">
                <a:solidFill>
                  <a:srgbClr val="16181D"/>
                </a:solidFill>
                <a:latin typeface="Segoe UI"/>
              </a:rPr>
              <a:t> — cada requisição começa do zero</a:t>
            </a:r>
          </a:p>
          <a:p>
            <a:pPr lvl="1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</a:pPr>
            <a:r>
              <a:rPr sz="1600" b="0" i="0">
                <a:solidFill>
                  <a:srgbClr val="6A6E76"/>
                </a:solidFill>
                <a:latin typeface="Segoe UI"/>
              </a:rPr>
              <a:t>·  as três decorrem do mecanismo que acabamos de ver</a:t>
            </a:r>
          </a:p>
          <a:p>
            <a:pPr lvl="1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</a:pPr>
            <a:r>
              <a:rPr sz="1600" b="0" i="0">
                <a:solidFill>
                  <a:srgbClr val="6A6E76"/>
                </a:solidFill>
                <a:latin typeface="Segoe UI"/>
              </a:rPr>
              <a:t>·  nenhuma delas é bug a ser corrigido na próxima versão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355080"/>
            <a:ext cx="990569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E76"/>
                </a:solidFill>
                <a:latin typeface="Segoe UI"/>
              </a:rPr>
              <a:t>Paulo E. R. Araujo · 1 · Fundamentos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4375" y="6355080"/>
            <a:ext cx="548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E76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E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2331720"/>
            <a:ext cx="1463040" cy="31750"/>
          </a:xfrm>
          <a:prstGeom prst="rect">
            <a:avLst/>
          </a:prstGeom>
          <a:solidFill>
            <a:srgbClr val="BC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651760"/>
            <a:ext cx="10454335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1">
                <a:solidFill>
                  <a:srgbClr val="16181D"/>
                </a:solidFill>
                <a:latin typeface="Georgia"/>
              </a:rPr>
              <a:t>O modelo não busca, ele completa. Por isso toda saída que você for citar em um paper precisa ser verificada por você — e por isso escrever em português custa mais caro que em inglês.</a:t>
            </a:r>
          </a:p>
          <a:p>
            <a:pPr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</a:pPr>
            <a:r>
              <a:rPr sz="1300" b="0" i="0">
                <a:solidFill>
                  <a:srgbClr val="6A6E76"/>
                </a:solidFill>
                <a:latin typeface="Segoe UI"/>
              </a:rPr>
              <a:t>Âncora do Bloco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6355080"/>
            <a:ext cx="990569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E76"/>
                </a:solidFill>
                <a:latin typeface="Segoe UI"/>
              </a:rPr>
              <a:t>Paulo E. R. Araujo · 1 · Fundamentos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74375" y="6355080"/>
            <a:ext cx="548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E76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2788920"/>
            <a:ext cx="1463040" cy="31750"/>
          </a:xfrm>
          <a:prstGeom prst="rect">
            <a:avLst/>
          </a:prstGeom>
          <a:solidFill>
            <a:srgbClr val="BC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063240"/>
            <a:ext cx="10454335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F7F6F2"/>
                </a:solidFill>
                <a:latin typeface="Georgia"/>
              </a:rPr>
              <a:t>Bloco 2</a:t>
            </a:r>
          </a:p>
          <a:p>
            <a:pPr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1600" b="0" i="0">
                <a:solidFill>
                  <a:srgbClr val="7FA8C9"/>
                </a:solidFill>
                <a:latin typeface="Segoe UI"/>
              </a:rPr>
              <a:t>Anatomia de uma requisição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66928"/>
            <a:ext cx="1045433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16181D"/>
                </a:solidFill>
                <a:latin typeface="Georgia"/>
              </a:rPr>
              <a:t>Você não conversa com o modelo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335024"/>
            <a:ext cx="10454335" cy="12700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r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3738" y="1609343"/>
            <a:ext cx="9464217" cy="43342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63738" y="5998464"/>
            <a:ext cx="9464217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6A6E76"/>
                </a:solidFill>
                <a:latin typeface="Segoe UI"/>
              </a:rPr>
              <a:t>Elaboração própria a partir do glossário da documentação oficial do Claude Code (set. 2026).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355080"/>
            <a:ext cx="990569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E76"/>
                </a:solidFill>
                <a:latin typeface="Segoe UI"/>
              </a:rPr>
              <a:t>Paulo E. R. Araujo · 2 · Anatomia da requisição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355080"/>
            <a:ext cx="548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E76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66928"/>
            <a:ext cx="1045433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16181D"/>
                </a:solidFill>
                <a:latin typeface="Georgia"/>
              </a:rPr>
              <a:t>O que o harness faz por você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335024"/>
            <a:ext cx="10454335" cy="12700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09343"/>
            <a:ext cx="10454335" cy="4562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6181D"/>
                </a:solidFill>
                <a:latin typeface="Segoe UI"/>
              </a:rPr>
              <a:t>—  </a:t>
            </a:r>
            <a:r>
              <a:rPr sz="1900" b="1" i="0">
                <a:solidFill>
                  <a:srgbClr val="16181D"/>
                </a:solidFill>
                <a:latin typeface="Segoe UI"/>
              </a:rPr>
              <a:t>Monta a requisição</a:t>
            </a:r>
            <a:r>
              <a:rPr sz="1900" b="0" i="0">
                <a:solidFill>
                  <a:srgbClr val="16181D"/>
                </a:solidFill>
                <a:latin typeface="Segoe UI"/>
              </a:rPr>
              <a:t> — injeta system prompt, </a:t>
            </a:r>
            <a:r>
              <a:rPr sz="1748" b="0" i="0">
                <a:solidFill>
                  <a:srgbClr val="16181D"/>
                </a:solidFill>
                <a:latin typeface="Consolas"/>
              </a:rPr>
              <a:t>CLAUDE.md</a:t>
            </a:r>
            <a:r>
              <a:rPr sz="1900" b="0" i="0">
                <a:solidFill>
                  <a:srgbClr val="16181D"/>
                </a:solidFill>
                <a:latin typeface="Segoe UI"/>
              </a:rPr>
              <a:t> e descrições de skills antes do seu texto</a:t>
            </a:r>
          </a:p>
          <a:p>
            <a:pPr>
              <a:lnSpc>
                <a:spcPct val="122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 i="0">
                <a:solidFill>
                  <a:srgbClr val="16181D"/>
                </a:solidFill>
                <a:latin typeface="Segoe UI"/>
              </a:rPr>
              <a:t>—  </a:t>
            </a:r>
            <a:r>
              <a:rPr sz="1900" b="1" i="0">
                <a:solidFill>
                  <a:srgbClr val="16181D"/>
                </a:solidFill>
                <a:latin typeface="Segoe UI"/>
              </a:rPr>
              <a:t>Mantém a sessão</a:t>
            </a:r>
            <a:r>
              <a:rPr sz="1900" b="0" i="0">
                <a:solidFill>
                  <a:srgbClr val="16181D"/>
                </a:solidFill>
                <a:latin typeface="Segoe UI"/>
              </a:rPr>
              <a:t> — reenvia o histórico a cada turno, porque o modelo não guarda nada</a:t>
            </a:r>
          </a:p>
          <a:p>
            <a:pPr>
              <a:lnSpc>
                <a:spcPct val="122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 i="0">
                <a:solidFill>
                  <a:srgbClr val="16181D"/>
                </a:solidFill>
                <a:latin typeface="Segoe UI"/>
              </a:rPr>
              <a:t>—  </a:t>
            </a:r>
            <a:r>
              <a:rPr sz="1900" b="1" i="0">
                <a:solidFill>
                  <a:srgbClr val="16181D"/>
                </a:solidFill>
                <a:latin typeface="Segoe UI"/>
              </a:rPr>
              <a:t>Executa as ferramentas</a:t>
            </a:r>
            <a:r>
              <a:rPr sz="1900" b="0" i="0">
                <a:solidFill>
                  <a:srgbClr val="16181D"/>
                </a:solidFill>
                <a:latin typeface="Segoe UI"/>
              </a:rPr>
              <a:t> — o modelo pede, o harness faz e devolve o resultado</a:t>
            </a:r>
          </a:p>
          <a:p>
            <a:pPr>
              <a:lnSpc>
                <a:spcPct val="122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 i="0">
                <a:solidFill>
                  <a:srgbClr val="16181D"/>
                </a:solidFill>
                <a:latin typeface="Segoe UI"/>
              </a:rPr>
              <a:t>—  </a:t>
            </a:r>
            <a:r>
              <a:rPr sz="1900" b="1" i="0">
                <a:solidFill>
                  <a:srgbClr val="16181D"/>
                </a:solidFill>
                <a:latin typeface="Segoe UI"/>
              </a:rPr>
              <a:t>Aplica o portão</a:t>
            </a:r>
            <a:r>
              <a:rPr sz="1900" b="0" i="0">
                <a:solidFill>
                  <a:srgbClr val="16181D"/>
                </a:solidFill>
                <a:latin typeface="Segoe UI"/>
              </a:rPr>
              <a:t> — permissões e plan mode ficam fora do componente estocástico</a:t>
            </a:r>
          </a:p>
          <a:p>
            <a:pPr>
              <a:lnSpc>
                <a:spcPct val="122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 i="0">
                <a:solidFill>
                  <a:srgbClr val="16181D"/>
                </a:solidFill>
                <a:latin typeface="Segoe UI"/>
              </a:rPr>
              <a:t>—  </a:t>
            </a:r>
            <a:r>
              <a:rPr sz="1900" b="1" i="0">
                <a:solidFill>
                  <a:srgbClr val="16181D"/>
                </a:solidFill>
                <a:latin typeface="Segoe UI"/>
              </a:rPr>
              <a:t>Administra a janela</a:t>
            </a:r>
            <a:r>
              <a:rPr sz="1900" b="0" i="0">
                <a:solidFill>
                  <a:srgbClr val="16181D"/>
                </a:solidFill>
                <a:latin typeface="Segoe UI"/>
              </a:rPr>
              <a:t> — conta, compacta e abre subagentes quando falta espaço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355080"/>
            <a:ext cx="990569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E76"/>
                </a:solidFill>
                <a:latin typeface="Segoe UI"/>
              </a:rPr>
              <a:t>Paulo E. R. Araujo · 2 · Anatomia da requisição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4375" y="6355080"/>
            <a:ext cx="548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E76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66928"/>
            <a:ext cx="1045433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16181D"/>
                </a:solidFill>
                <a:latin typeface="Georgia"/>
              </a:rPr>
              <a:t>O que é enviado a cada turno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335024"/>
            <a:ext cx="10454335" cy="12700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rcamento-jane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689" y="1609343"/>
            <a:ext cx="9476315" cy="43342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57689" y="5998464"/>
            <a:ext cx="947631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6A6E76"/>
                </a:solidFill>
                <a:latin typeface="Segoe UI"/>
              </a:rPr>
              <a:t>Elaboração própria a partir do simulador de janela de contexto da documentação oficial do Claude Code (set. 2026).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355080"/>
            <a:ext cx="990569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E76"/>
                </a:solidFill>
                <a:latin typeface="Segoe UI"/>
              </a:rPr>
              <a:t>Paulo E. R. Araujo · 2 · Anatomia da requisição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355080"/>
            <a:ext cx="548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E76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66928"/>
            <a:ext cx="1045433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16181D"/>
                </a:solidFill>
                <a:latin typeface="Georgia"/>
              </a:rPr>
              <a:t>A janela é um orçamento, não uma memória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335024"/>
            <a:ext cx="10454335" cy="12700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09343"/>
            <a:ext cx="10454335" cy="4562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6181D"/>
                </a:solidFill>
                <a:latin typeface="Segoe UI"/>
              </a:rPr>
              <a:t>—  200 mil tokens no padrão; 1 milhão em modelos de janela estendida</a:t>
            </a:r>
          </a:p>
          <a:p>
            <a:pPr>
              <a:lnSpc>
                <a:spcPct val="122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 i="0">
                <a:solidFill>
                  <a:srgbClr val="16181D"/>
                </a:solidFill>
                <a:latin typeface="Segoe UI"/>
              </a:rPr>
              <a:t>—  Não é "quanto ele lembra": é quanto cabe </a:t>
            </a:r>
            <a:r>
              <a:rPr sz="1900" b="1" i="0">
                <a:solidFill>
                  <a:srgbClr val="16181D"/>
                </a:solidFill>
                <a:latin typeface="Segoe UI"/>
              </a:rPr>
              <a:t>nesta</a:t>
            </a:r>
            <a:r>
              <a:rPr sz="1900" b="0" i="0">
                <a:solidFill>
                  <a:srgbClr val="16181D"/>
                </a:solidFill>
                <a:latin typeface="Segoe UI"/>
              </a:rPr>
              <a:t> requisição</a:t>
            </a:r>
          </a:p>
          <a:p>
            <a:pPr>
              <a:lnSpc>
                <a:spcPct val="122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 i="0">
                <a:solidFill>
                  <a:srgbClr val="16181D"/>
                </a:solidFill>
                <a:latin typeface="Segoe UI"/>
              </a:rPr>
              <a:t>—  Cada leitura de arquivo debita do mesmo orçamento</a:t>
            </a:r>
          </a:p>
          <a:p>
            <a:pPr lvl="1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</a:pPr>
            <a:r>
              <a:rPr sz="1600" b="0" i="0">
                <a:solidFill>
                  <a:srgbClr val="6A6E76"/>
                </a:solidFill>
                <a:latin typeface="Segoe UI"/>
              </a:rPr>
              <a:t>·  um arquivo de código médio custa entre 1.100 e 2.400 tokens</a:t>
            </a:r>
          </a:p>
          <a:p>
            <a:pPr lvl="1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</a:pPr>
            <a:r>
              <a:rPr sz="1600" b="0" i="0">
                <a:solidFill>
                  <a:srgbClr val="6A6E76"/>
                </a:solidFill>
                <a:latin typeface="Segoe UI"/>
              </a:rPr>
              <a:t>·  dez arquivos e o orçamento do turno já mudou de figura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355080"/>
            <a:ext cx="990569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E76"/>
                </a:solidFill>
                <a:latin typeface="Segoe UI"/>
              </a:rPr>
              <a:t>Paulo E. R. Araujo · 2 · Anatomia da requisição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4375" y="6355080"/>
            <a:ext cx="548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E76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66928"/>
            <a:ext cx="1045433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16181D"/>
                </a:solidFill>
                <a:latin typeface="Georgia"/>
              </a:rPr>
              <a:t>Sessão: o modelo é stateless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335024"/>
            <a:ext cx="10454335" cy="12700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essao-statel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5145" y="1609343"/>
            <a:ext cx="9441403" cy="43342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5145" y="5998464"/>
            <a:ext cx="9441403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6A6E76"/>
                </a:solidFill>
                <a:latin typeface="Segoe UI"/>
              </a:rPr>
              <a:t>Elaboração própria. Valores ilustrativos.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355080"/>
            <a:ext cx="990569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E76"/>
                </a:solidFill>
                <a:latin typeface="Segoe UI"/>
              </a:rPr>
              <a:t>Paulo E. R. Araujo · 2 · Anatomia da requisição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355080"/>
            <a:ext cx="548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E76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66928"/>
            <a:ext cx="1045433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16181D"/>
                </a:solidFill>
                <a:latin typeface="Georgia"/>
              </a:rPr>
              <a:t>Dois contrapesos do sistema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335024"/>
            <a:ext cx="10454335" cy="12700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09343"/>
            <a:ext cx="4162220" cy="4562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6181D"/>
                </a:solidFill>
                <a:latin typeface="Segoe UI"/>
              </a:rPr>
              <a:t>—  </a:t>
            </a:r>
            <a:r>
              <a:rPr sz="1900" b="1" i="0">
                <a:solidFill>
                  <a:srgbClr val="16181D"/>
                </a:solidFill>
                <a:latin typeface="Segoe UI"/>
              </a:rPr>
              <a:t>Prompt caching</a:t>
            </a:r>
            <a:r>
              <a:rPr sz="1900" b="0" i="0">
                <a:solidFill>
                  <a:srgbClr val="16181D"/>
                </a:solidFill>
                <a:latin typeface="Segoe UI"/>
              </a:rPr>
              <a:t> — o prefixo repetido é cacheado e sai muito mais barato que a primeira vez</a:t>
            </a:r>
          </a:p>
          <a:p>
            <a:pPr lvl="1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</a:pPr>
            <a:r>
              <a:rPr sz="1600" b="0" i="0">
                <a:solidFill>
                  <a:srgbClr val="6A6E76"/>
                </a:solidFill>
                <a:latin typeface="Segoe UI"/>
              </a:rPr>
              <a:t>·  sem isso, o reenvio a cada turno seria inviável</a:t>
            </a:r>
          </a:p>
          <a:p>
            <a:pPr lvl="1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</a:pPr>
            <a:r>
              <a:rPr sz="1600" b="0" i="0">
                <a:solidFill>
                  <a:srgbClr val="6A6E76"/>
                </a:solidFill>
                <a:latin typeface="Segoe UI"/>
              </a:rPr>
              <a:t>·  sessão longa é cara em janela, menos em dinheiro</a:t>
            </a:r>
          </a:p>
          <a:p>
            <a:pPr>
              <a:lnSpc>
                <a:spcPct val="122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 i="0">
                <a:solidFill>
                  <a:srgbClr val="16181D"/>
                </a:solidFill>
                <a:latin typeface="Segoe UI"/>
              </a:rPr>
              <a:t>—  </a:t>
            </a:r>
            <a:r>
              <a:rPr sz="1900" b="1" i="0">
                <a:solidFill>
                  <a:srgbClr val="16181D"/>
                </a:solidFill>
                <a:latin typeface="Segoe UI"/>
              </a:rPr>
              <a:t>Compaction</a:t>
            </a:r>
            <a:r>
              <a:rPr sz="1900" b="0" i="0">
                <a:solidFill>
                  <a:srgbClr val="16181D"/>
                </a:solidFill>
                <a:latin typeface="Segoe UI"/>
              </a:rPr>
              <a:t> — quando a janela satura, a conversa é resumida e recomeça</a:t>
            </a:r>
          </a:p>
        </p:txBody>
      </p:sp>
      <p:pic>
        <p:nvPicPr>
          <p:cNvPr id="5" name="Picture 4" descr="comp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9500" y="2544091"/>
            <a:ext cx="6063514" cy="246476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259500" y="5063716"/>
            <a:ext cx="606351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6A6E76"/>
                </a:solidFill>
                <a:latin typeface="Segoe UI"/>
              </a:rPr>
              <a:t>Elaboração própria a partir da documentação oficial do Claude Code (set. 2026).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6355080"/>
            <a:ext cx="990569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E76"/>
                </a:solidFill>
                <a:latin typeface="Segoe UI"/>
              </a:rPr>
              <a:t>Paulo E. R. Araujo · 2 · Anatomia da requisição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375" y="6355080"/>
            <a:ext cx="548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E76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66928"/>
            <a:ext cx="1045433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16181D"/>
                </a:solidFill>
                <a:latin typeface="Georgia"/>
              </a:rPr>
              <a:t>O que atravessa sessões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335024"/>
            <a:ext cx="10454335" cy="12700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09343"/>
            <a:ext cx="10454335" cy="4562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6181D"/>
                </a:solidFill>
                <a:latin typeface="Segoe UI"/>
              </a:rPr>
              <a:t>—  </a:t>
            </a:r>
            <a:r>
              <a:rPr sz="1900" b="1" i="0">
                <a:solidFill>
                  <a:srgbClr val="16181D"/>
                </a:solidFill>
                <a:latin typeface="Segoe UI"/>
              </a:rPr>
              <a:t>Contexto persistente</a:t>
            </a:r>
            <a:r>
              <a:rPr sz="1900" b="0" i="0">
                <a:solidFill>
                  <a:srgbClr val="16181D"/>
                </a:solidFill>
                <a:latin typeface="Segoe UI"/>
              </a:rPr>
              <a:t>: </a:t>
            </a:r>
            <a:r>
              <a:rPr sz="1748" b="0" i="0">
                <a:solidFill>
                  <a:srgbClr val="16181D"/>
                </a:solidFill>
                <a:latin typeface="Consolas"/>
              </a:rPr>
              <a:t>CLAUDE.md</a:t>
            </a:r>
            <a:r>
              <a:rPr sz="1900" b="0" i="0">
                <a:solidFill>
                  <a:srgbClr val="16181D"/>
                </a:solidFill>
                <a:latin typeface="Segoe UI"/>
              </a:rPr>
              <a:t> no Code, Projects e memória no Chat</a:t>
            </a:r>
          </a:p>
          <a:p>
            <a:pPr>
              <a:lnSpc>
                <a:spcPct val="122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 i="0">
                <a:solidFill>
                  <a:srgbClr val="16181D"/>
                </a:solidFill>
                <a:latin typeface="Segoe UI"/>
              </a:rPr>
              <a:t>—  Entra </a:t>
            </a:r>
            <a:r>
              <a:rPr sz="1900" b="1" i="0">
                <a:solidFill>
                  <a:srgbClr val="16181D"/>
                </a:solidFill>
                <a:latin typeface="Segoe UI"/>
              </a:rPr>
              <a:t>sempre</a:t>
            </a:r>
            <a:r>
              <a:rPr sz="1900" b="0" i="0">
                <a:solidFill>
                  <a:srgbClr val="16181D"/>
                </a:solidFill>
                <a:latin typeface="Segoe UI"/>
              </a:rPr>
              <a:t>, em toda requisição — ao contrário do material de apoio, que entra sob demanda</a:t>
            </a:r>
          </a:p>
          <a:p>
            <a:pPr>
              <a:lnSpc>
                <a:spcPct val="122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 i="0">
                <a:solidFill>
                  <a:srgbClr val="16181D"/>
                </a:solidFill>
                <a:latin typeface="Segoe UI"/>
              </a:rPr>
              <a:t>—  Consequência dupla:</a:t>
            </a:r>
          </a:p>
          <a:p>
            <a:pPr lvl="1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</a:pPr>
            <a:r>
              <a:rPr sz="1600" b="0" i="0">
                <a:solidFill>
                  <a:srgbClr val="6A6E76"/>
                </a:solidFill>
                <a:latin typeface="Segoe UI"/>
              </a:rPr>
              <a:t>·  escrever demais nele é caro, porque o custo é recorrente</a:t>
            </a:r>
          </a:p>
          <a:p>
            <a:pPr lvl="1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</a:pPr>
            <a:r>
              <a:rPr sz="1600" b="0" i="0">
                <a:solidFill>
                  <a:srgbClr val="6A6E76"/>
                </a:solidFill>
                <a:latin typeface="Segoe UI"/>
              </a:rPr>
              <a:t>·  escrever bem nele é a alavanca de maior retorno que existe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355080"/>
            <a:ext cx="990569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E76"/>
                </a:solidFill>
                <a:latin typeface="Segoe UI"/>
              </a:rPr>
              <a:t>Paulo E. R. Araujo · 2 · Anatomia da requisição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4375" y="6355080"/>
            <a:ext cx="548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E76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66928"/>
            <a:ext cx="1045433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16181D"/>
                </a:solidFill>
                <a:latin typeface="Georgia"/>
              </a:rPr>
              <a:t>Modelo, thinking e effort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335024"/>
            <a:ext cx="10454335" cy="12700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09343"/>
            <a:ext cx="10454335" cy="4562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6181D"/>
                </a:solidFill>
                <a:latin typeface="Segoe UI"/>
              </a:rPr>
              <a:t>—  </a:t>
            </a:r>
            <a:r>
              <a:rPr sz="1900" b="1" i="0">
                <a:solidFill>
                  <a:srgbClr val="16181D"/>
                </a:solidFill>
                <a:latin typeface="Segoe UI"/>
              </a:rPr>
              <a:t>Modelo</a:t>
            </a:r>
            <a:r>
              <a:rPr sz="1900" b="0" i="0">
                <a:solidFill>
                  <a:srgbClr val="16181D"/>
                </a:solidFill>
                <a:latin typeface="Segoe UI"/>
              </a:rPr>
              <a:t>: capacidade × latência × custo. Não existe escolha universalmente certa</a:t>
            </a:r>
          </a:p>
          <a:p>
            <a:pPr>
              <a:lnSpc>
                <a:spcPct val="122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 i="0">
                <a:solidFill>
                  <a:srgbClr val="16181D"/>
                </a:solidFill>
                <a:latin typeface="Segoe UI"/>
              </a:rPr>
              <a:t>—  </a:t>
            </a:r>
            <a:r>
              <a:rPr sz="1900" b="1" i="0">
                <a:solidFill>
                  <a:srgbClr val="16181D"/>
                </a:solidFill>
                <a:latin typeface="Segoe UI"/>
              </a:rPr>
              <a:t>Thinking</a:t>
            </a:r>
            <a:r>
              <a:rPr sz="1900" b="0" i="0">
                <a:solidFill>
                  <a:srgbClr val="16181D"/>
                </a:solidFill>
                <a:latin typeface="Segoe UI"/>
              </a:rPr>
              <a:t>: o modelo raciocina antes de responder — e esse raciocínio também são tokens</a:t>
            </a:r>
          </a:p>
          <a:p>
            <a:pPr>
              <a:lnSpc>
                <a:spcPct val="122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 i="0">
                <a:solidFill>
                  <a:srgbClr val="16181D"/>
                </a:solidFill>
                <a:latin typeface="Segoe UI"/>
              </a:rPr>
              <a:t>—  </a:t>
            </a:r>
            <a:r>
              <a:rPr sz="1900" b="1" i="0">
                <a:solidFill>
                  <a:srgbClr val="16181D"/>
                </a:solidFill>
                <a:latin typeface="Segoe UI"/>
              </a:rPr>
              <a:t>Effort</a:t>
            </a:r>
            <a:r>
              <a:rPr sz="1900" b="0" i="0">
                <a:solidFill>
                  <a:srgbClr val="16181D"/>
                </a:solidFill>
                <a:latin typeface="Segoe UI"/>
              </a:rPr>
              <a:t>: quanto desse raciocínio investir</a:t>
            </a:r>
          </a:p>
          <a:p>
            <a:pPr lvl="1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</a:pPr>
            <a:r>
              <a:rPr sz="1600" b="0" i="0">
                <a:solidFill>
                  <a:srgbClr val="6A6E76"/>
                </a:solidFill>
                <a:latin typeface="Segoe UI"/>
              </a:rPr>
              <a:t>·  níveis disponíveis: </a:t>
            </a:r>
            <a:r>
              <a:rPr sz="1472" b="0" i="0">
                <a:solidFill>
                  <a:srgbClr val="6A6E76"/>
                </a:solidFill>
                <a:latin typeface="Consolas"/>
              </a:rPr>
              <a:t>low</a:t>
            </a:r>
            <a:r>
              <a:rPr sz="1600" b="0" i="0">
                <a:solidFill>
                  <a:srgbClr val="6A6E76"/>
                </a:solidFill>
                <a:latin typeface="Segoe UI"/>
              </a:rPr>
              <a:t>, </a:t>
            </a:r>
            <a:r>
              <a:rPr sz="1472" b="0" i="0">
                <a:solidFill>
                  <a:srgbClr val="6A6E76"/>
                </a:solidFill>
                <a:latin typeface="Consolas"/>
              </a:rPr>
              <a:t>medium</a:t>
            </a:r>
            <a:r>
              <a:rPr sz="1600" b="0" i="0">
                <a:solidFill>
                  <a:srgbClr val="6A6E76"/>
                </a:solidFill>
                <a:latin typeface="Segoe UI"/>
              </a:rPr>
              <a:t>, </a:t>
            </a:r>
            <a:r>
              <a:rPr sz="1472" b="0" i="0">
                <a:solidFill>
                  <a:srgbClr val="6A6E76"/>
                </a:solidFill>
                <a:latin typeface="Consolas"/>
              </a:rPr>
              <a:t>high</a:t>
            </a:r>
            <a:r>
              <a:rPr sz="1600" b="0" i="0">
                <a:solidFill>
                  <a:srgbClr val="6A6E76"/>
                </a:solidFill>
                <a:latin typeface="Segoe UI"/>
              </a:rPr>
              <a:t>, </a:t>
            </a:r>
            <a:r>
              <a:rPr sz="1472" b="0" i="0">
                <a:solidFill>
                  <a:srgbClr val="6A6E76"/>
                </a:solidFill>
                <a:latin typeface="Consolas"/>
              </a:rPr>
              <a:t>xhigh</a:t>
            </a:r>
            <a:r>
              <a:rPr sz="1600" b="0" i="0">
                <a:solidFill>
                  <a:srgbClr val="6A6E76"/>
                </a:solidFill>
                <a:latin typeface="Segoe UI"/>
              </a:rPr>
              <a:t>, </a:t>
            </a:r>
            <a:r>
              <a:rPr sz="1472" b="0" i="0">
                <a:solidFill>
                  <a:srgbClr val="6A6E76"/>
                </a:solidFill>
                <a:latin typeface="Consolas"/>
              </a:rPr>
              <a:t>max</a:t>
            </a:r>
            <a:r>
              <a:rPr sz="1600" b="0" i="0">
                <a:solidFill>
                  <a:srgbClr val="6A6E76"/>
                </a:solidFill>
                <a:latin typeface="Segoe UI"/>
              </a:rPr>
              <a:t>; padrão </a:t>
            </a:r>
            <a:r>
              <a:rPr sz="1472" b="0" i="0">
                <a:solidFill>
                  <a:srgbClr val="6A6E76"/>
                </a:solidFill>
                <a:latin typeface="Consolas"/>
              </a:rPr>
              <a:t>high</a:t>
            </a:r>
          </a:p>
          <a:p>
            <a:pPr lvl="1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</a:pPr>
            <a:r>
              <a:rPr sz="1600" b="0" i="0">
                <a:solidFill>
                  <a:srgbClr val="6A6E76"/>
                </a:solidFill>
                <a:latin typeface="Segoe UI"/>
              </a:rPr>
              <a:t>·  tarefa mecânica com effort alto é tempo e dinheiro jogados fora</a:t>
            </a:r>
          </a:p>
          <a:p>
            <a:pPr lvl="1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</a:pPr>
            <a:r>
              <a:rPr sz="1600" b="0" i="0">
                <a:solidFill>
                  <a:srgbClr val="6A6E76"/>
                </a:solidFill>
                <a:latin typeface="Segoe UI"/>
              </a:rPr>
              <a:t>·  tarefa de projeto com effort baixo é retrabalho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355080"/>
            <a:ext cx="990569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E76"/>
                </a:solidFill>
                <a:latin typeface="Segoe UI"/>
              </a:rPr>
              <a:t>Paulo E. R. Araujo · 2 · Anatomia da requisição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4375" y="6355080"/>
            <a:ext cx="548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E76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E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2331720"/>
            <a:ext cx="1463040" cy="31750"/>
          </a:xfrm>
          <a:prstGeom prst="rect">
            <a:avLst/>
          </a:prstGeom>
          <a:solidFill>
            <a:srgbClr val="BC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651760"/>
            <a:ext cx="10454335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1">
                <a:solidFill>
                  <a:srgbClr val="16181D"/>
                </a:solidFill>
                <a:latin typeface="Georgia"/>
              </a:rPr>
              <a:t>Conversa longa degrada porque o histórico inteiro volta a cada turno e empurra o que importa para o meio do ruído. Por isso vale abrir sessão nova quando o assunto muda — e por isso vale escrever o CLAUDE.md uma vez em vez de reexplicar o projeto toda vez.</a:t>
            </a:r>
          </a:p>
          <a:p>
            <a:pPr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</a:pPr>
            <a:r>
              <a:rPr sz="1300" b="0" i="0">
                <a:solidFill>
                  <a:srgbClr val="6A6E76"/>
                </a:solidFill>
                <a:latin typeface="Segoe UI"/>
              </a:rPr>
              <a:t>Âncora do Bloco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6355080"/>
            <a:ext cx="990569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E76"/>
                </a:solidFill>
                <a:latin typeface="Segoe UI"/>
              </a:rPr>
              <a:t>Paulo E. R. Araujo · 2 · Anatomia da requisição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74375" y="6355080"/>
            <a:ext cx="548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E76"/>
                </a:solidFill>
                <a:latin typeface="Segoe UI"/>
              </a:rPr>
              <a:t>18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2788920"/>
            <a:ext cx="1463040" cy="31750"/>
          </a:xfrm>
          <a:prstGeom prst="rect">
            <a:avLst/>
          </a:prstGeom>
          <a:solidFill>
            <a:srgbClr val="BC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063240"/>
            <a:ext cx="10454335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F7F6F2"/>
                </a:solidFill>
                <a:latin typeface="Georgia"/>
              </a:rPr>
              <a:t>Bloco 3</a:t>
            </a:r>
          </a:p>
          <a:p>
            <a:pPr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1600" b="0" i="0">
                <a:solidFill>
                  <a:srgbClr val="7FA8C9"/>
                </a:solidFill>
                <a:latin typeface="Segoe UI"/>
              </a:rPr>
              <a:t>Do sistema ao agente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66928"/>
            <a:ext cx="1045433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16181D"/>
                </a:solidFill>
                <a:latin typeface="Georgia"/>
              </a:rPr>
              <a:t>Tool use, apresentado como protocolo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335024"/>
            <a:ext cx="10454335" cy="12700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09343"/>
            <a:ext cx="10454335" cy="4562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6181D"/>
                </a:solidFill>
                <a:latin typeface="Segoe UI"/>
              </a:rPr>
              <a:t>—  O servidor expõe ferramentas com nome, descrição e schema</a:t>
            </a:r>
          </a:p>
          <a:p>
            <a:pPr>
              <a:lnSpc>
                <a:spcPct val="122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 i="0">
                <a:solidFill>
                  <a:srgbClr val="16181D"/>
                </a:solidFill>
                <a:latin typeface="Segoe UI"/>
              </a:rPr>
              <a:t>—  O harness injeta essa lista no contexto do modelo</a:t>
            </a:r>
          </a:p>
          <a:p>
            <a:pPr>
              <a:lnSpc>
                <a:spcPct val="122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 i="0">
                <a:solidFill>
                  <a:srgbClr val="16181D"/>
                </a:solidFill>
                <a:latin typeface="Segoe UI"/>
              </a:rPr>
              <a:t>—  O modelo responde </a:t>
            </a:r>
            <a:r>
              <a:rPr sz="1900" b="1" i="0">
                <a:solidFill>
                  <a:srgbClr val="16181D"/>
                </a:solidFill>
                <a:latin typeface="Segoe UI"/>
              </a:rPr>
              <a:t>pedindo</a:t>
            </a:r>
            <a:r>
              <a:rPr sz="1900" b="0" i="0">
                <a:solidFill>
                  <a:srgbClr val="16181D"/>
                </a:solidFill>
                <a:latin typeface="Segoe UI"/>
              </a:rPr>
              <a:t> uma chamada; o harness executa e devolve o resultado</a:t>
            </a:r>
          </a:p>
          <a:p>
            <a:pPr>
              <a:lnSpc>
                <a:spcPct val="122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 i="0">
                <a:solidFill>
                  <a:srgbClr val="16181D"/>
                </a:solidFill>
                <a:latin typeface="Segoe UI"/>
              </a:rPr>
              <a:t>—  MCP é o protocolo aberto que padroniza esse contrato</a:t>
            </a:r>
          </a:p>
          <a:p>
            <a:pPr lvl="1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</a:pPr>
            <a:r>
              <a:rPr sz="1600" b="0" i="0">
                <a:solidFill>
                  <a:srgbClr val="6A6E76"/>
                </a:solidFill>
                <a:latin typeface="Segoe UI"/>
              </a:rPr>
              <a:t>·  a mesma ferramenta serve a qualquer harness que fale o protocolo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355080"/>
            <a:ext cx="990569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E76"/>
                </a:solidFill>
                <a:latin typeface="Segoe UI"/>
              </a:rPr>
              <a:t>Paulo E. R. Araujo · 3 · Do sistema ao agente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4375" y="6355080"/>
            <a:ext cx="548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E76"/>
                </a:solidFill>
                <a:latin typeface="Segoe UI"/>
              </a:rPr>
              <a:t>19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66928"/>
            <a:ext cx="1045433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16181D"/>
                </a:solidFill>
                <a:latin typeface="Georgia"/>
              </a:rPr>
              <a:t>As mensagens trocadas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335024"/>
            <a:ext cx="10454335" cy="12700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ensage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579" y="1609343"/>
            <a:ext cx="9994536" cy="43342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8579" y="5998464"/>
            <a:ext cx="99945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6A6E76"/>
                </a:solidFill>
                <a:latin typeface="Segoe UI"/>
              </a:rPr>
              <a:t>Estrutura conforme a Messages API da documentação oficial da Claude API (set. 2026). Campos abreviados.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355080"/>
            <a:ext cx="990569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E76"/>
                </a:solidFill>
                <a:latin typeface="Segoe UI"/>
              </a:rPr>
              <a:t>Paulo E. R. Araujo · 3 · Do sistema ao agente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355080"/>
            <a:ext cx="548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E76"/>
                </a:solidFill>
                <a:latin typeface="Segoe UI"/>
              </a:rPr>
              <a:t>20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66928"/>
            <a:ext cx="1045433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16181D"/>
                </a:solidFill>
                <a:latin typeface="Georgia"/>
              </a:rPr>
              <a:t>O vocabulário das mensagens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335024"/>
            <a:ext cx="10454335" cy="12700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09343"/>
            <a:ext cx="10454335" cy="4562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6181D"/>
                </a:solidFill>
                <a:latin typeface="Segoe UI"/>
              </a:rPr>
              <a:t>—  </a:t>
            </a:r>
            <a:r>
              <a:rPr sz="1900" b="1" i="0">
                <a:solidFill>
                  <a:srgbClr val="16181D"/>
                </a:solidFill>
                <a:latin typeface="Segoe UI"/>
              </a:rPr>
              <a:t>Papéis</a:t>
            </a:r>
            <a:r>
              <a:rPr sz="1900" b="0" i="0">
                <a:solidFill>
                  <a:srgbClr val="16181D"/>
                </a:solidFill>
                <a:latin typeface="Segoe UI"/>
              </a:rPr>
              <a:t>: </a:t>
            </a:r>
            <a:r>
              <a:rPr sz="1748" b="0" i="0">
                <a:solidFill>
                  <a:srgbClr val="16181D"/>
                </a:solidFill>
                <a:latin typeface="Consolas"/>
              </a:rPr>
              <a:t>system</a:t>
            </a:r>
            <a:r>
              <a:rPr sz="1900" b="0" i="0">
                <a:solidFill>
                  <a:srgbClr val="16181D"/>
                </a:solidFill>
                <a:latin typeface="Segoe UI"/>
              </a:rPr>
              <a:t>, </a:t>
            </a:r>
            <a:r>
              <a:rPr sz="1748" b="0" i="0">
                <a:solidFill>
                  <a:srgbClr val="16181D"/>
                </a:solidFill>
                <a:latin typeface="Consolas"/>
              </a:rPr>
              <a:t>user</a:t>
            </a:r>
            <a:r>
              <a:rPr sz="1900" b="0" i="0">
                <a:solidFill>
                  <a:srgbClr val="16181D"/>
                </a:solidFill>
                <a:latin typeface="Segoe UI"/>
              </a:rPr>
              <a:t> e </a:t>
            </a:r>
            <a:r>
              <a:rPr sz="1748" b="0" i="0">
                <a:solidFill>
                  <a:srgbClr val="16181D"/>
                </a:solidFill>
                <a:latin typeface="Consolas"/>
              </a:rPr>
              <a:t>assistant</a:t>
            </a:r>
          </a:p>
          <a:p>
            <a:pPr lvl="1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</a:pPr>
            <a:r>
              <a:rPr sz="1600" b="0" i="0">
                <a:solidFill>
                  <a:srgbClr val="6A6E76"/>
                </a:solidFill>
                <a:latin typeface="Segoe UI"/>
              </a:rPr>
              <a:t>·  o resultado de uma ferramenta chega como </a:t>
            </a:r>
            <a:r>
              <a:rPr sz="1472" b="0" i="0">
                <a:solidFill>
                  <a:srgbClr val="6A6E76"/>
                </a:solidFill>
                <a:latin typeface="Consolas"/>
              </a:rPr>
              <a:t>user</a:t>
            </a:r>
            <a:r>
              <a:rPr sz="1600" b="0" i="0">
                <a:solidFill>
                  <a:srgbClr val="6A6E76"/>
                </a:solidFill>
                <a:latin typeface="Segoe UI"/>
              </a:rPr>
              <a:t>: não há canal separado para máquina</a:t>
            </a:r>
          </a:p>
          <a:p>
            <a:pPr>
              <a:lnSpc>
                <a:spcPct val="122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 i="0">
                <a:solidFill>
                  <a:srgbClr val="16181D"/>
                </a:solidFill>
                <a:latin typeface="Segoe UI"/>
              </a:rPr>
              <a:t>—  </a:t>
            </a:r>
            <a:r>
              <a:rPr sz="1900" b="1" i="0">
                <a:solidFill>
                  <a:srgbClr val="16181D"/>
                </a:solidFill>
                <a:latin typeface="Segoe UI"/>
              </a:rPr>
              <a:t>Blocos de conteúdo</a:t>
            </a:r>
            <a:r>
              <a:rPr sz="1900" b="0" i="0">
                <a:solidFill>
                  <a:srgbClr val="16181D"/>
                </a:solidFill>
                <a:latin typeface="Segoe UI"/>
              </a:rPr>
              <a:t>: </a:t>
            </a:r>
            <a:r>
              <a:rPr sz="1748" b="0" i="0">
                <a:solidFill>
                  <a:srgbClr val="16181D"/>
                </a:solidFill>
                <a:latin typeface="Consolas"/>
              </a:rPr>
              <a:t>text</a:t>
            </a:r>
            <a:r>
              <a:rPr sz="1900" b="0" i="0">
                <a:solidFill>
                  <a:srgbClr val="16181D"/>
                </a:solidFill>
                <a:latin typeface="Segoe UI"/>
              </a:rPr>
              <a:t>, </a:t>
            </a:r>
            <a:r>
              <a:rPr sz="1748" b="0" i="0">
                <a:solidFill>
                  <a:srgbClr val="16181D"/>
                </a:solidFill>
                <a:latin typeface="Consolas"/>
              </a:rPr>
              <a:t>thinking</a:t>
            </a:r>
            <a:r>
              <a:rPr sz="1900" b="0" i="0">
                <a:solidFill>
                  <a:srgbClr val="16181D"/>
                </a:solidFill>
                <a:latin typeface="Segoe UI"/>
              </a:rPr>
              <a:t>, </a:t>
            </a:r>
            <a:r>
              <a:rPr sz="1748" b="0" i="0">
                <a:solidFill>
                  <a:srgbClr val="16181D"/>
                </a:solidFill>
                <a:latin typeface="Consolas"/>
              </a:rPr>
              <a:t>tool_use</a:t>
            </a:r>
            <a:r>
              <a:rPr sz="1900" b="0" i="0">
                <a:solidFill>
                  <a:srgbClr val="16181D"/>
                </a:solidFill>
                <a:latin typeface="Segoe UI"/>
              </a:rPr>
              <a:t>, </a:t>
            </a:r>
            <a:r>
              <a:rPr sz="1748" b="0" i="0">
                <a:solidFill>
                  <a:srgbClr val="16181D"/>
                </a:solidFill>
                <a:latin typeface="Consolas"/>
              </a:rPr>
              <a:t>tool_result</a:t>
            </a:r>
          </a:p>
          <a:p>
            <a:pPr lvl="1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</a:pPr>
            <a:r>
              <a:rPr sz="1600" b="0" i="0">
                <a:solidFill>
                  <a:srgbClr val="6A6E76"/>
                </a:solidFill>
                <a:latin typeface="Segoe UI"/>
              </a:rPr>
              <a:t>·  imagem e documento entram como blocos também</a:t>
            </a:r>
          </a:p>
          <a:p>
            <a:pPr>
              <a:lnSpc>
                <a:spcPct val="122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 i="0">
                <a:solidFill>
                  <a:srgbClr val="16181D"/>
                </a:solidFill>
                <a:latin typeface="Segoe UI"/>
              </a:rPr>
              <a:t>—  </a:t>
            </a:r>
            <a:r>
              <a:rPr sz="1748" b="1" i="0">
                <a:solidFill>
                  <a:srgbClr val="16181D"/>
                </a:solidFill>
                <a:latin typeface="Consolas"/>
              </a:rPr>
              <a:t>stop_reason</a:t>
            </a:r>
            <a:r>
              <a:rPr sz="1900" b="0" i="0">
                <a:solidFill>
                  <a:srgbClr val="16181D"/>
                </a:solidFill>
                <a:latin typeface="Segoe UI"/>
              </a:rPr>
              <a:t>: por que o modelo parou</a:t>
            </a:r>
          </a:p>
          <a:p>
            <a:pPr lvl="1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</a:pPr>
            <a:r>
              <a:rPr sz="1600" b="0" i="0">
                <a:solidFill>
                  <a:srgbClr val="6A6E76"/>
                </a:solidFill>
                <a:latin typeface="Segoe UI"/>
              </a:rPr>
              <a:t>·  </a:t>
            </a:r>
            <a:r>
              <a:rPr sz="1472" b="0" i="0">
                <a:solidFill>
                  <a:srgbClr val="6A6E76"/>
                </a:solidFill>
                <a:latin typeface="Consolas"/>
              </a:rPr>
              <a:t>tool_use</a:t>
            </a:r>
            <a:r>
              <a:rPr sz="1600" b="0" i="0">
                <a:solidFill>
                  <a:srgbClr val="6A6E76"/>
                </a:solidFill>
                <a:latin typeface="Segoe UI"/>
              </a:rPr>
              <a:t> pede execução · </a:t>
            </a:r>
            <a:r>
              <a:rPr sz="1472" b="0" i="0">
                <a:solidFill>
                  <a:srgbClr val="6A6E76"/>
                </a:solidFill>
                <a:latin typeface="Consolas"/>
              </a:rPr>
              <a:t>end_turn</a:t>
            </a:r>
            <a:r>
              <a:rPr sz="1600" b="0" i="0">
                <a:solidFill>
                  <a:srgbClr val="6A6E76"/>
                </a:solidFill>
                <a:latin typeface="Segoe UI"/>
              </a:rPr>
              <a:t> encerra · </a:t>
            </a:r>
            <a:r>
              <a:rPr sz="1472" b="0" i="0">
                <a:solidFill>
                  <a:srgbClr val="6A6E76"/>
                </a:solidFill>
                <a:latin typeface="Consolas"/>
              </a:rPr>
              <a:t>max_tokens</a:t>
            </a:r>
            <a:r>
              <a:rPr sz="1600" b="0" i="0">
                <a:solidFill>
                  <a:srgbClr val="6A6E76"/>
                </a:solidFill>
                <a:latin typeface="Segoe UI"/>
              </a:rPr>
              <a:t> truncou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355080"/>
            <a:ext cx="990569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E76"/>
                </a:solidFill>
                <a:latin typeface="Segoe UI"/>
              </a:rPr>
              <a:t>Paulo E. R. Araujo · 3 · Do sistema ao agente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4375" y="6355080"/>
            <a:ext cx="548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E76"/>
                </a:solidFill>
                <a:latin typeface="Segoe UI"/>
              </a:rPr>
              <a:t>21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66928"/>
            <a:ext cx="1045433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16181D"/>
                </a:solidFill>
                <a:latin typeface="Georgia"/>
              </a:rPr>
              <a:t>Três regras que explicam muita coisa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335024"/>
            <a:ext cx="10454335" cy="12700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09343"/>
            <a:ext cx="10454335" cy="4562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6181D"/>
                </a:solidFill>
                <a:latin typeface="Segoe UI"/>
              </a:rPr>
              <a:t>—  Todo </a:t>
            </a:r>
            <a:r>
              <a:rPr sz="1748" b="0" i="0">
                <a:solidFill>
                  <a:srgbClr val="16181D"/>
                </a:solidFill>
                <a:latin typeface="Consolas"/>
              </a:rPr>
              <a:t>tool_result</a:t>
            </a:r>
            <a:r>
              <a:rPr sz="1900" b="0" i="0">
                <a:solidFill>
                  <a:srgbClr val="16181D"/>
                </a:solidFill>
                <a:latin typeface="Segoe UI"/>
              </a:rPr>
              <a:t> cita o </a:t>
            </a:r>
            <a:r>
              <a:rPr sz="1748" b="0" i="0">
                <a:solidFill>
                  <a:srgbClr val="16181D"/>
                </a:solidFill>
                <a:latin typeface="Consolas"/>
              </a:rPr>
              <a:t>tool_use_id</a:t>
            </a:r>
            <a:r>
              <a:rPr sz="1900" b="0" i="0">
                <a:solidFill>
                  <a:srgbClr val="16181D"/>
                </a:solidFill>
                <a:latin typeface="Segoe UI"/>
              </a:rPr>
              <a:t> do pedido que o originou</a:t>
            </a:r>
          </a:p>
          <a:p>
            <a:pPr lvl="1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</a:pPr>
            <a:r>
              <a:rPr sz="1600" b="0" i="0">
                <a:solidFill>
                  <a:srgbClr val="6A6E76"/>
                </a:solidFill>
                <a:latin typeface="Segoe UI"/>
              </a:rPr>
              <a:t>·  é o que permite ao modelo casar resposta com pergunta quando há várias em voo</a:t>
            </a:r>
          </a:p>
          <a:p>
            <a:pPr>
              <a:lnSpc>
                <a:spcPct val="122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 i="0">
                <a:solidFill>
                  <a:srgbClr val="16181D"/>
                </a:solidFill>
                <a:latin typeface="Segoe UI"/>
              </a:rPr>
              <a:t>—  Se o modelo pediu várias ferramentas, </a:t>
            </a:r>
            <a:r>
              <a:rPr sz="1900" b="1" i="0">
                <a:solidFill>
                  <a:srgbClr val="16181D"/>
                </a:solidFill>
                <a:latin typeface="Segoe UI"/>
              </a:rPr>
              <a:t>todos</a:t>
            </a:r>
            <a:r>
              <a:rPr sz="1900" b="0" i="0">
                <a:solidFill>
                  <a:srgbClr val="16181D"/>
                </a:solidFill>
                <a:latin typeface="Segoe UI"/>
              </a:rPr>
              <a:t> os resultados voltam em uma única mensagem</a:t>
            </a:r>
          </a:p>
          <a:p>
            <a:pPr lvl="1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</a:pPr>
            <a:r>
              <a:rPr sz="1600" b="0" i="0">
                <a:solidFill>
                  <a:srgbClr val="6A6E76"/>
                </a:solidFill>
                <a:latin typeface="Segoe UI"/>
              </a:rPr>
              <a:t>·  devolver em mensagens separadas ensina o modelo a parar de pedir em paralelo</a:t>
            </a:r>
          </a:p>
          <a:p>
            <a:pPr>
              <a:lnSpc>
                <a:spcPct val="122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 i="0">
                <a:solidFill>
                  <a:srgbClr val="16181D"/>
                </a:solidFill>
                <a:latin typeface="Segoe UI"/>
              </a:rPr>
              <a:t>—  Erro também é resultado: volta como </a:t>
            </a:r>
            <a:r>
              <a:rPr sz="1748" b="0" i="0">
                <a:solidFill>
                  <a:srgbClr val="16181D"/>
                </a:solidFill>
                <a:latin typeface="Consolas"/>
              </a:rPr>
              <a:t>tool_result</a:t>
            </a:r>
            <a:r>
              <a:rPr sz="1900" b="0" i="0">
                <a:solidFill>
                  <a:srgbClr val="16181D"/>
                </a:solidFill>
                <a:latin typeface="Segoe UI"/>
              </a:rPr>
              <a:t> com </a:t>
            </a:r>
            <a:r>
              <a:rPr sz="1748" b="0" i="0">
                <a:solidFill>
                  <a:srgbClr val="16181D"/>
                </a:solidFill>
                <a:latin typeface="Consolas"/>
              </a:rPr>
              <a:t>is_error</a:t>
            </a:r>
            <a:r>
              <a:rPr sz="1900" b="0" i="0">
                <a:solidFill>
                  <a:srgbClr val="16181D"/>
                </a:solidFill>
                <a:latin typeface="Segoe UI"/>
              </a:rPr>
              <a:t>, nunca como silêncio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355080"/>
            <a:ext cx="990569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E76"/>
                </a:solidFill>
                <a:latin typeface="Segoe UI"/>
              </a:rPr>
              <a:t>Paulo E. R. Araujo · 3 · Do sistema ao agente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4375" y="6355080"/>
            <a:ext cx="548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E76"/>
                </a:solidFill>
                <a:latin typeface="Segoe UI"/>
              </a:rPr>
              <a:t>22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66928"/>
            <a:ext cx="1045433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16181D"/>
                </a:solidFill>
                <a:latin typeface="Georgia"/>
              </a:rPr>
              <a:t>O laço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335024"/>
            <a:ext cx="10454335" cy="12700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aco-age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6798" y="1609343"/>
            <a:ext cx="8338097" cy="43342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926798" y="5998464"/>
            <a:ext cx="8338097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6A6E76"/>
                </a:solidFill>
                <a:latin typeface="Segoe UI"/>
              </a:rPr>
              <a:t>Elaboração própria.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355080"/>
            <a:ext cx="990569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E76"/>
                </a:solidFill>
                <a:latin typeface="Segoe UI"/>
              </a:rPr>
              <a:t>Paulo E. R. Araujo · 3 · Do sistema ao agente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355080"/>
            <a:ext cx="548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E76"/>
                </a:solidFill>
                <a:latin typeface="Segoe UI"/>
              </a:rPr>
              <a:t>23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66928"/>
            <a:ext cx="1045433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16181D"/>
                </a:solidFill>
                <a:latin typeface="Georgia"/>
              </a:rPr>
              <a:t>Agente orquestrador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335024"/>
            <a:ext cx="10454335" cy="12700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09343"/>
            <a:ext cx="10454335" cy="4562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6181D"/>
                </a:solidFill>
                <a:latin typeface="Segoe UI"/>
              </a:rPr>
              <a:t>—  Quem roda o laço: mantém o objetivo, escolhe a ferramenta, decide quando delegar e quando parar</a:t>
            </a:r>
          </a:p>
          <a:p>
            <a:pPr>
              <a:lnSpc>
                <a:spcPct val="122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 i="0">
                <a:solidFill>
                  <a:srgbClr val="16181D"/>
                </a:solidFill>
                <a:latin typeface="Segoe UI"/>
              </a:rPr>
              <a:t>—  É um </a:t>
            </a:r>
            <a:r>
              <a:rPr sz="1900" b="1" i="0">
                <a:solidFill>
                  <a:srgbClr val="16181D"/>
                </a:solidFill>
                <a:latin typeface="Segoe UI"/>
              </a:rPr>
              <a:t>papel</a:t>
            </a:r>
            <a:r>
              <a:rPr sz="1900" b="0" i="0">
                <a:solidFill>
                  <a:srgbClr val="16181D"/>
                </a:solidFill>
                <a:latin typeface="Segoe UI"/>
              </a:rPr>
              <a:t>, não um produto — o mesmo papel aparece nos três produtos da próxima seção</a:t>
            </a:r>
          </a:p>
          <a:p>
            <a:pPr>
              <a:lnSpc>
                <a:spcPct val="122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 i="0">
                <a:solidFill>
                  <a:srgbClr val="16181D"/>
                </a:solidFill>
                <a:latin typeface="Segoe UI"/>
              </a:rPr>
              <a:t>—  No Claude Code, esse papel é descrito em texto, no </a:t>
            </a:r>
            <a:r>
              <a:rPr sz="1748" b="0" i="0">
                <a:solidFill>
                  <a:srgbClr val="16181D"/>
                </a:solidFill>
                <a:latin typeface="Consolas"/>
              </a:rPr>
              <a:t>CLAUDE.md</a:t>
            </a:r>
            <a:r>
              <a:rPr sz="1900" b="0" i="0">
                <a:solidFill>
                  <a:srgbClr val="16181D"/>
                </a:solidFill>
                <a:latin typeface="Segoe UI"/>
              </a:rPr>
              <a:t> do projeto</a:t>
            </a:r>
          </a:p>
          <a:p>
            <a:pPr lvl="1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</a:pPr>
            <a:r>
              <a:rPr sz="1600" b="0" i="0">
                <a:solidFill>
                  <a:srgbClr val="6A6E76"/>
                </a:solidFill>
                <a:latin typeface="Segoe UI"/>
              </a:rPr>
              <a:t>·  é literalmente Markdown: sem formato secreto, sem API</a:t>
            </a:r>
          </a:p>
          <a:p>
            <a:pPr lvl="1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</a:pPr>
            <a:r>
              <a:rPr sz="1600" b="0" i="0">
                <a:solidFill>
                  <a:srgbClr val="6A6E76"/>
                </a:solidFill>
                <a:latin typeface="Segoe UI"/>
              </a:rPr>
              <a:t>·  é o que vocês vão escrever na Aula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355080"/>
            <a:ext cx="990569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E76"/>
                </a:solidFill>
                <a:latin typeface="Segoe UI"/>
              </a:rPr>
              <a:t>Paulo E. R. Araujo · 3 · Do sistema ao agente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4375" y="6355080"/>
            <a:ext cx="548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E76"/>
                </a:solidFill>
                <a:latin typeface="Segoe UI"/>
              </a:rPr>
              <a:t>24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66928"/>
            <a:ext cx="1045433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16181D"/>
                </a:solidFill>
                <a:latin typeface="Georgia"/>
              </a:rPr>
              <a:t>Skills e o material de apoio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335024"/>
            <a:ext cx="10454335" cy="12700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kill-referen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966" y="1609343"/>
            <a:ext cx="9173762" cy="43342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08966" y="5998464"/>
            <a:ext cx="917376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6A6E76"/>
                </a:solidFill>
                <a:latin typeface="Segoe UI"/>
              </a:rPr>
              <a:t>Elaboração própria a partir da documentação oficial de Agent Skills (set. 2026).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355080"/>
            <a:ext cx="990569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E76"/>
                </a:solidFill>
                <a:latin typeface="Segoe UI"/>
              </a:rPr>
              <a:t>Paulo E. R. Araujo · 3 · Do sistema ao agente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355080"/>
            <a:ext cx="548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E76"/>
                </a:solidFill>
                <a:latin typeface="Segoe UI"/>
              </a:rPr>
              <a:t>25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66928"/>
            <a:ext cx="1045433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16181D"/>
                </a:solidFill>
                <a:latin typeface="Georgia"/>
              </a:rPr>
              <a:t>Subagents: comprar janela de contexto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335024"/>
            <a:ext cx="10454335" cy="12700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ubage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0003" y="1609343"/>
            <a:ext cx="8911688" cy="43342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40003" y="5998464"/>
            <a:ext cx="89116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6A6E76"/>
                </a:solidFill>
                <a:latin typeface="Segoe UI"/>
              </a:rPr>
              <a:t>Elaboração própria a partir do simulador de janela de contexto da documentação oficial do Claude Code (set. 2026).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355080"/>
            <a:ext cx="990569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E76"/>
                </a:solidFill>
                <a:latin typeface="Segoe UI"/>
              </a:rPr>
              <a:t>Paulo E. R. Araujo · 3 · Do sistema ao agente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355080"/>
            <a:ext cx="548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E76"/>
                </a:solidFill>
                <a:latin typeface="Segoe UI"/>
              </a:rPr>
              <a:t>26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E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2331720"/>
            <a:ext cx="1463040" cy="31750"/>
          </a:xfrm>
          <a:prstGeom prst="rect">
            <a:avLst/>
          </a:prstGeom>
          <a:solidFill>
            <a:srgbClr val="BC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651760"/>
            <a:ext cx="10454335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1">
                <a:solidFill>
                  <a:srgbClr val="16181D"/>
                </a:solidFill>
                <a:latin typeface="Georgia"/>
              </a:rPr>
              <a:t>Contexto é o recurso escasso, e você tem três formas de gastá-lo menos: skill em vez de repetir instrução, material de apoio em vez de colar documentação, subagente em vez de ler dez arquivos no contexto principal.</a:t>
            </a:r>
          </a:p>
          <a:p>
            <a:pPr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</a:pPr>
            <a:r>
              <a:rPr sz="1300" b="0" i="0">
                <a:solidFill>
                  <a:srgbClr val="6A6E76"/>
                </a:solidFill>
                <a:latin typeface="Segoe UI"/>
              </a:rPr>
              <a:t>Âncora do Bloco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6355080"/>
            <a:ext cx="990569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E76"/>
                </a:solidFill>
                <a:latin typeface="Segoe UI"/>
              </a:rPr>
              <a:t>Paulo E. R. Araujo · 3 · Do sistema ao agente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74375" y="6355080"/>
            <a:ext cx="548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E76"/>
                </a:solidFill>
                <a:latin typeface="Segoe UI"/>
              </a:rPr>
              <a:t>27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2788920"/>
            <a:ext cx="1463040" cy="31750"/>
          </a:xfrm>
          <a:prstGeom prst="rect">
            <a:avLst/>
          </a:prstGeom>
          <a:solidFill>
            <a:srgbClr val="BC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063240"/>
            <a:ext cx="10454335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F7F6F2"/>
                </a:solidFill>
                <a:latin typeface="Georgia"/>
              </a:rPr>
              <a:t>Bloco 4</a:t>
            </a:r>
          </a:p>
          <a:p>
            <a:pPr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1600" b="0" i="0">
                <a:solidFill>
                  <a:srgbClr val="7FA8C9"/>
                </a:solidFill>
                <a:latin typeface="Segoe UI"/>
              </a:rPr>
              <a:t>Claude concreto: três interfaces, uma base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66928"/>
            <a:ext cx="1045433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16181D"/>
                </a:solidFill>
                <a:latin typeface="Georgia"/>
              </a:rPr>
              <a:t>Três portas para o mesmo prédio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335024"/>
            <a:ext cx="10454335" cy="12700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res-produ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8084" y="1609343"/>
            <a:ext cx="9355526" cy="43342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18084" y="5998464"/>
            <a:ext cx="935552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6A6E76"/>
                </a:solidFill>
                <a:latin typeface="Segoe UI"/>
              </a:rPr>
              <a:t>Elaboração própria.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355080"/>
            <a:ext cx="990569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E76"/>
                </a:solidFill>
                <a:latin typeface="Segoe UI"/>
              </a:rPr>
              <a:t>Paulo E. R. Araujo · 4 · Claude concreto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355080"/>
            <a:ext cx="548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E76"/>
                </a:solidFill>
                <a:latin typeface="Segoe UI"/>
              </a:rPr>
              <a:t>28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66928"/>
            <a:ext cx="1045433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16181D"/>
                </a:solidFill>
                <a:latin typeface="Georgia"/>
              </a:rPr>
              <a:t>Onde cada conceito aparece — Chat e Cowork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335024"/>
            <a:ext cx="10454335" cy="12700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09343"/>
            <a:ext cx="10454335" cy="4562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6181D"/>
                </a:solidFill>
                <a:latin typeface="Segoe UI"/>
              </a:rPr>
              <a:t>—  Os dois são harnesses: mesma base, ambientes diferentes</a:t>
            </a:r>
          </a:p>
          <a:p>
            <a:pPr>
              <a:lnSpc>
                <a:spcPct val="122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 i="0">
                <a:solidFill>
                  <a:srgbClr val="16181D"/>
                </a:solidFill>
                <a:latin typeface="Segoe UI"/>
              </a:rPr>
              <a:t>—  </a:t>
            </a:r>
            <a:r>
              <a:rPr sz="1900" b="1" i="0">
                <a:solidFill>
                  <a:srgbClr val="16181D"/>
                </a:solidFill>
                <a:latin typeface="Segoe UI"/>
              </a:rPr>
              <a:t>Chat</a:t>
            </a:r>
            <a:r>
              <a:rPr sz="1900" b="0" i="0">
                <a:solidFill>
                  <a:srgbClr val="16181D"/>
                </a:solidFill>
                <a:latin typeface="Segoe UI"/>
              </a:rPr>
              <a:t> — a porta de entrada do pesquisador</a:t>
            </a:r>
          </a:p>
          <a:p>
            <a:pPr lvl="1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</a:pPr>
            <a:r>
              <a:rPr sz="1600" b="0" i="0">
                <a:solidFill>
                  <a:srgbClr val="6A6E76"/>
                </a:solidFill>
                <a:latin typeface="Segoe UI"/>
              </a:rPr>
              <a:t>·  Projects e memória fazem o papel de contexto persistente</a:t>
            </a:r>
          </a:p>
          <a:p>
            <a:pPr lvl="1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</a:pPr>
            <a:r>
              <a:rPr sz="1600" b="0" i="0">
                <a:solidFill>
                  <a:srgbClr val="6A6E76"/>
                </a:solidFill>
                <a:latin typeface="Segoe UI"/>
              </a:rPr>
              <a:t>·  connectors são tool use com outra roupa</a:t>
            </a:r>
          </a:p>
          <a:p>
            <a:pPr>
              <a:lnSpc>
                <a:spcPct val="122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 i="0">
                <a:solidFill>
                  <a:srgbClr val="16181D"/>
                </a:solidFill>
                <a:latin typeface="Segoe UI"/>
              </a:rPr>
              <a:t>—  </a:t>
            </a:r>
            <a:r>
              <a:rPr sz="1900" b="1" i="0">
                <a:solidFill>
                  <a:srgbClr val="16181D"/>
                </a:solidFill>
                <a:latin typeface="Segoe UI"/>
              </a:rPr>
              <a:t>Cowork</a:t>
            </a:r>
            <a:r>
              <a:rPr sz="1900" b="0" i="0">
                <a:solidFill>
                  <a:srgbClr val="16181D"/>
                </a:solidFill>
                <a:latin typeface="Segoe UI"/>
              </a:rPr>
              <a:t> — trabalho delegado sobre arquivos e tarefas</a:t>
            </a:r>
          </a:p>
          <a:p>
            <a:pPr lvl="1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</a:pPr>
            <a:r>
              <a:rPr sz="1600" b="0" i="0">
                <a:solidFill>
                  <a:srgbClr val="6A6E76"/>
                </a:solidFill>
                <a:latin typeface="Segoe UI"/>
              </a:rPr>
              <a:t>·  dispatch e times de agentes são o orquestrador com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355080"/>
            <a:ext cx="990569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E76"/>
                </a:solidFill>
                <a:latin typeface="Segoe UI"/>
              </a:rPr>
              <a:t>Paulo E. R. Araujo · 4 · Claude concreto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4375" y="6355080"/>
            <a:ext cx="548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E76"/>
                </a:solidFill>
                <a:latin typeface="Segoe UI"/>
              </a:rPr>
              <a:t>29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66928"/>
            <a:ext cx="1045433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16181D"/>
                </a:solidFill>
                <a:latin typeface="Georgia"/>
              </a:rPr>
              <a:t>Onde cada conceito aparece — Code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335024"/>
            <a:ext cx="10454335" cy="12700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09343"/>
            <a:ext cx="10454335" cy="4562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6181D"/>
                </a:solidFill>
                <a:latin typeface="Segoe UI"/>
              </a:rPr>
              <a:t>—  </a:t>
            </a:r>
            <a:r>
              <a:rPr sz="1900" b="1" i="0">
                <a:solidFill>
                  <a:srgbClr val="16181D"/>
                </a:solidFill>
                <a:latin typeface="Segoe UI"/>
              </a:rPr>
              <a:t>Code</a:t>
            </a:r>
            <a:r>
              <a:rPr sz="1900" b="0" i="0">
                <a:solidFill>
                  <a:srgbClr val="16181D"/>
                </a:solidFill>
                <a:latin typeface="Segoe UI"/>
              </a:rPr>
              <a:t> — o agente dentro do repositório</a:t>
            </a:r>
          </a:p>
          <a:p>
            <a:pPr lvl="1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</a:pPr>
            <a:r>
              <a:rPr sz="1600" b="0" i="0">
                <a:solidFill>
                  <a:srgbClr val="6A6E76"/>
                </a:solidFill>
                <a:latin typeface="Segoe UI"/>
              </a:rPr>
              <a:t>·  </a:t>
            </a:r>
            <a:r>
              <a:rPr sz="1472" b="0" i="0">
                <a:solidFill>
                  <a:srgbClr val="6A6E76"/>
                </a:solidFill>
                <a:latin typeface="Consolas"/>
              </a:rPr>
              <a:t>CLAUDE.md</a:t>
            </a:r>
            <a:r>
              <a:rPr sz="1600" b="0" i="0">
                <a:solidFill>
                  <a:srgbClr val="6A6E76"/>
                </a:solidFill>
                <a:latin typeface="Segoe UI"/>
              </a:rPr>
              <a:t>, skills, material de apoio e subagents</a:t>
            </a:r>
          </a:p>
          <a:p>
            <a:pPr lvl="1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</a:pPr>
            <a:r>
              <a:rPr sz="1600" b="0" i="0">
                <a:solidFill>
                  <a:srgbClr val="6A6E76"/>
                </a:solidFill>
                <a:latin typeface="Segoe UI"/>
              </a:rPr>
              <a:t>·  quatro superfícies: terminal, IDE, aplicativo de desktop e web</a:t>
            </a:r>
          </a:p>
          <a:p>
            <a:pPr>
              <a:lnSpc>
                <a:spcPct val="122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 i="0">
                <a:solidFill>
                  <a:srgbClr val="16181D"/>
                </a:solidFill>
                <a:latin typeface="Segoe UI"/>
              </a:rPr>
              <a:t>—  </a:t>
            </a:r>
            <a:r>
              <a:rPr sz="1900" b="1" i="0">
                <a:solidFill>
                  <a:srgbClr val="16181D"/>
                </a:solidFill>
                <a:latin typeface="Segoe UI"/>
              </a:rPr>
              <a:t>Hooks</a:t>
            </a:r>
            <a:r>
              <a:rPr sz="1900" b="0" i="0">
                <a:solidFill>
                  <a:srgbClr val="16181D"/>
                </a:solidFill>
                <a:latin typeface="Segoe UI"/>
              </a:rPr>
              <a:t> — comando determinístico em torno de um núcleo estocástico</a:t>
            </a:r>
          </a:p>
          <a:p>
            <a:pPr lvl="1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</a:pPr>
            <a:r>
              <a:rPr sz="1600" b="0" i="0">
                <a:solidFill>
                  <a:srgbClr val="6A6E76"/>
                </a:solidFill>
                <a:latin typeface="Segoe UI"/>
              </a:rPr>
              <a:t>·  é a ponte para reprodutibilidade, que volta no próximo bloco</a:t>
            </a:r>
          </a:p>
          <a:p>
            <a:pPr>
              <a:lnSpc>
                <a:spcPct val="122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 i="0">
                <a:solidFill>
                  <a:srgbClr val="16181D"/>
                </a:solidFill>
                <a:latin typeface="Segoe UI"/>
              </a:rPr>
              <a:t>—  </a:t>
            </a:r>
            <a:r>
              <a:rPr sz="1900" b="1" i="0">
                <a:solidFill>
                  <a:srgbClr val="16181D"/>
                </a:solidFill>
                <a:latin typeface="Segoe UI"/>
              </a:rPr>
              <a:t>Checkpointing</a:t>
            </a:r>
            <a:r>
              <a:rPr sz="1900" b="0" i="0">
                <a:solidFill>
                  <a:srgbClr val="16181D"/>
                </a:solidFill>
                <a:latin typeface="Segoe UI"/>
              </a:rPr>
              <a:t> — desfazer o que o agente fez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355080"/>
            <a:ext cx="990569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E76"/>
                </a:solidFill>
                <a:latin typeface="Segoe UI"/>
              </a:rPr>
              <a:t>Paulo E. R. Araujo · 4 · Claude concreto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4375" y="6355080"/>
            <a:ext cx="548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E76"/>
                </a:solidFill>
                <a:latin typeface="Segoe UI"/>
              </a:rPr>
              <a:t>30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2788920"/>
            <a:ext cx="1463040" cy="31750"/>
          </a:xfrm>
          <a:prstGeom prst="rect">
            <a:avLst/>
          </a:prstGeom>
          <a:solidFill>
            <a:srgbClr val="BC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063240"/>
            <a:ext cx="10454335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F7F6F2"/>
                </a:solidFill>
                <a:latin typeface="Georgia"/>
              </a:rPr>
              <a:t>Bloco 5</a:t>
            </a:r>
          </a:p>
          <a:p>
            <a:pPr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1600" b="0" i="0">
                <a:solidFill>
                  <a:srgbClr val="7FA8C9"/>
                </a:solidFill>
                <a:latin typeface="Segoe UI"/>
              </a:rPr>
              <a:t>Aplicação em pesquisa em computação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66928"/>
            <a:ext cx="1045433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16181D"/>
                </a:solidFill>
                <a:latin typeface="Georgia"/>
              </a:rPr>
              <a:t>Quatro tipos de trabalho, não quatro domínios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335024"/>
            <a:ext cx="10454335" cy="12700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09343"/>
            <a:ext cx="10454335" cy="4562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6181D"/>
                </a:solidFill>
                <a:latin typeface="Segoe UI"/>
              </a:rPr>
              <a:t>—  </a:t>
            </a:r>
            <a:r>
              <a:rPr sz="1900" b="1" i="0">
                <a:solidFill>
                  <a:srgbClr val="16181D"/>
                </a:solidFill>
                <a:latin typeface="Segoe UI"/>
              </a:rPr>
              <a:t>Entender artefato herdado</a:t>
            </a:r>
          </a:p>
          <a:p>
            <a:pPr lvl="1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</a:pPr>
            <a:r>
              <a:rPr sz="1600" b="0" i="0">
                <a:solidFill>
                  <a:srgbClr val="6A6E76"/>
                </a:solidFill>
                <a:latin typeface="Segoe UI"/>
              </a:rPr>
              <a:t>·  o simulador que o aluno anterior deixou, um pipeline, um protótipo</a:t>
            </a:r>
          </a:p>
          <a:p>
            <a:pPr lvl="1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</a:pPr>
            <a:r>
              <a:rPr sz="1600" b="0" i="0">
                <a:solidFill>
                  <a:srgbClr val="6A6E76"/>
                </a:solidFill>
                <a:latin typeface="Segoe UI"/>
              </a:rPr>
              <a:t>·  o problema é sempre o mesmo: código sem ninguém para explicá-lo</a:t>
            </a:r>
          </a:p>
          <a:p>
            <a:pPr>
              <a:lnSpc>
                <a:spcPct val="122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 i="0">
                <a:solidFill>
                  <a:srgbClr val="16181D"/>
                </a:solidFill>
                <a:latin typeface="Segoe UI"/>
              </a:rPr>
              <a:t>—  </a:t>
            </a:r>
            <a:r>
              <a:rPr sz="1900" b="1" i="0">
                <a:solidFill>
                  <a:srgbClr val="16181D"/>
                </a:solidFill>
                <a:latin typeface="Segoe UI"/>
              </a:rPr>
              <a:t>Analisar resultado experimental</a:t>
            </a:r>
          </a:p>
          <a:p>
            <a:pPr lvl="1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</a:pPr>
            <a:r>
              <a:rPr sz="1600" b="0" i="0">
                <a:solidFill>
                  <a:srgbClr val="6A6E76"/>
                </a:solidFill>
                <a:latin typeface="Segoe UI"/>
              </a:rPr>
              <a:t>·  saída de simulação, log, captura, planilha de coleta, questionário</a:t>
            </a:r>
          </a:p>
          <a:p>
            <a:pPr lvl="1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</a:pPr>
            <a:r>
              <a:rPr sz="1600" b="0" i="0">
                <a:solidFill>
                  <a:srgbClr val="6A6E76"/>
                </a:solidFill>
                <a:latin typeface="Segoe UI"/>
              </a:rPr>
              <a:t>·  o problema é sempre o mesmo: volume acima da leitura manual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355080"/>
            <a:ext cx="990569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E76"/>
                </a:solidFill>
                <a:latin typeface="Segoe UI"/>
              </a:rPr>
              <a:t>Paulo E. R. Araujo · 5 · Aplicação em pesquisa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4375" y="6355080"/>
            <a:ext cx="548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E76"/>
                </a:solidFill>
                <a:latin typeface="Segoe UI"/>
              </a:rPr>
              <a:t>31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66928"/>
            <a:ext cx="1045433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16181D"/>
                </a:solidFill>
                <a:latin typeface="Georgia"/>
              </a:rPr>
              <a:t>Quatro tipos de trabalho, não quatro domínios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335024"/>
            <a:ext cx="10454335" cy="12700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09343"/>
            <a:ext cx="10454335" cy="4562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6181D"/>
                </a:solidFill>
                <a:latin typeface="Segoe UI"/>
              </a:rPr>
              <a:t>—  </a:t>
            </a:r>
            <a:r>
              <a:rPr sz="1900" b="1" i="0">
                <a:solidFill>
                  <a:srgbClr val="16181D"/>
                </a:solidFill>
                <a:latin typeface="Segoe UI"/>
              </a:rPr>
              <a:t>Levantar e organizar literatura</a:t>
            </a:r>
          </a:p>
          <a:p>
            <a:pPr lvl="1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</a:pPr>
            <a:r>
              <a:rPr sz="1600" b="0" i="0">
                <a:solidFill>
                  <a:srgbClr val="6A6E76"/>
                </a:solidFill>
                <a:latin typeface="Segoe UI"/>
              </a:rPr>
              <a:t>·  triagem, extração de critérios, tabela comparativa de revisão sistemática</a:t>
            </a:r>
          </a:p>
          <a:p>
            <a:pPr lvl="1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</a:pPr>
            <a:r>
              <a:rPr sz="1600" b="0" i="0">
                <a:solidFill>
                  <a:srgbClr val="6A6E76"/>
                </a:solidFill>
                <a:latin typeface="Segoe UI"/>
              </a:rPr>
              <a:t>·  ressalva: o modelo não é fonte bibliográfica, e sim ferramenta de organização sobre o que você forneceu</a:t>
            </a:r>
          </a:p>
          <a:p>
            <a:pPr>
              <a:lnSpc>
                <a:spcPct val="122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 i="0">
                <a:solidFill>
                  <a:srgbClr val="16181D"/>
                </a:solidFill>
                <a:latin typeface="Segoe UI"/>
              </a:rPr>
              <a:t>—  </a:t>
            </a:r>
            <a:r>
              <a:rPr sz="1900" b="1" i="0">
                <a:solidFill>
                  <a:srgbClr val="16181D"/>
                </a:solidFill>
                <a:latin typeface="Segoe UI"/>
              </a:rPr>
              <a:t>Apoiar a escrita</a:t>
            </a:r>
            <a:r>
              <a:rPr sz="1900" b="0" i="0">
                <a:solidFill>
                  <a:srgbClr val="16181D"/>
                </a:solidFill>
                <a:latin typeface="Segoe UI"/>
              </a:rPr>
              <a:t> — estrutura, clareza, revisão de argumento</a:t>
            </a:r>
          </a:p>
          <a:p>
            <a:pPr>
              <a:lnSpc>
                <a:spcPct val="122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 i="0">
                <a:solidFill>
                  <a:srgbClr val="16181D"/>
                </a:solidFill>
                <a:latin typeface="Segoe UI"/>
              </a:rPr>
              <a:t>—  Atravessando os quatro: </a:t>
            </a:r>
            <a:r>
              <a:rPr sz="1900" b="1" i="0">
                <a:solidFill>
                  <a:srgbClr val="16181D"/>
                </a:solidFill>
                <a:latin typeface="Segoe UI"/>
              </a:rPr>
              <a:t>reprodutibilidade</a:t>
            </a:r>
          </a:p>
          <a:p>
            <a:pPr lvl="1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</a:pPr>
            <a:r>
              <a:rPr sz="1600" b="0" i="0">
                <a:solidFill>
                  <a:srgbClr val="6A6E76"/>
                </a:solidFill>
                <a:latin typeface="Segoe UI"/>
              </a:rPr>
              <a:t>·  o que o agente fez precisa virar script, commit e ambiente registrados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355080"/>
            <a:ext cx="990569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E76"/>
                </a:solidFill>
                <a:latin typeface="Segoe UI"/>
              </a:rPr>
              <a:t>Paulo E. R. Araujo · 5 · Aplicação em pesquisa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4375" y="6355080"/>
            <a:ext cx="548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E76"/>
                </a:solidFill>
                <a:latin typeface="Segoe UI"/>
              </a:rPr>
              <a:t>32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66928"/>
            <a:ext cx="1045433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16181D"/>
                </a:solidFill>
                <a:latin typeface="Georgia"/>
              </a:rPr>
              <a:t>Permissões: o portão do laço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335024"/>
            <a:ext cx="10454335" cy="12700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09343"/>
            <a:ext cx="10454335" cy="4562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6181D"/>
                </a:solidFill>
                <a:latin typeface="Segoe UI"/>
              </a:rPr>
              <a:t>—  Um agente com acesso ao repositório edita arquivos e executa comandos</a:t>
            </a:r>
          </a:p>
          <a:p>
            <a:pPr>
              <a:lnSpc>
                <a:spcPct val="122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 i="0">
                <a:solidFill>
                  <a:srgbClr val="16181D"/>
                </a:solidFill>
                <a:latin typeface="Segoe UI"/>
              </a:rPr>
              <a:t>—  O portão é do </a:t>
            </a:r>
            <a:r>
              <a:rPr sz="1900" b="1" i="0">
                <a:solidFill>
                  <a:srgbClr val="16181D"/>
                </a:solidFill>
                <a:latin typeface="Segoe UI"/>
              </a:rPr>
              <a:t>harness</a:t>
            </a:r>
            <a:r>
              <a:rPr sz="1900" b="0" i="0">
                <a:solidFill>
                  <a:srgbClr val="16181D"/>
                </a:solidFill>
                <a:latin typeface="Segoe UI"/>
              </a:rPr>
              <a:t>, não do modelo: pedir aprovação, aceitar edições, ou planejar antes de agir</a:t>
            </a:r>
          </a:p>
          <a:p>
            <a:pPr>
              <a:lnSpc>
                <a:spcPct val="122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 i="0">
                <a:solidFill>
                  <a:srgbClr val="16181D"/>
                </a:solidFill>
                <a:latin typeface="Segoe UI"/>
              </a:rPr>
              <a:t>—  </a:t>
            </a:r>
            <a:r>
              <a:rPr sz="1900" b="1" i="0">
                <a:solidFill>
                  <a:srgbClr val="16181D"/>
                </a:solidFill>
                <a:latin typeface="Segoe UI"/>
              </a:rPr>
              <a:t>Plan mode</a:t>
            </a:r>
            <a:r>
              <a:rPr sz="1900" b="0" i="0">
                <a:solidFill>
                  <a:srgbClr val="16181D"/>
                </a:solidFill>
                <a:latin typeface="Segoe UI"/>
              </a:rPr>
              <a:t>: o agente mostra o plano e espera. Você lê antes de qualquer escrita</a:t>
            </a:r>
          </a:p>
          <a:p>
            <a:pPr>
              <a:lnSpc>
                <a:spcPct val="122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 i="0">
                <a:solidFill>
                  <a:srgbClr val="16181D"/>
                </a:solidFill>
                <a:latin typeface="Segoe UI"/>
              </a:rPr>
              <a:t>—  Regra prática: repositório de terceiro, base de coleta ou artefato que você não pode recriar começa em plan mode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355080"/>
            <a:ext cx="990569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E76"/>
                </a:solidFill>
                <a:latin typeface="Segoe UI"/>
              </a:rPr>
              <a:t>Paulo E. R. Araujo · 5 · Aplicação em pesquisa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4375" y="6355080"/>
            <a:ext cx="548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E76"/>
                </a:solidFill>
                <a:latin typeface="Segoe UI"/>
              </a:rPr>
              <a:t>33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66928"/>
            <a:ext cx="1045433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16181D"/>
                </a:solidFill>
                <a:latin typeface="Georgia"/>
              </a:rPr>
              <a:t>Dados sensíveis: duas categorias, duas réguas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335024"/>
            <a:ext cx="10454335" cy="12700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09343"/>
            <a:ext cx="10454335" cy="4562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6181D"/>
                </a:solidFill>
                <a:latin typeface="Segoe UI"/>
              </a:rPr>
              <a:t>—  </a:t>
            </a:r>
            <a:r>
              <a:rPr sz="1900" b="1" i="0">
                <a:solidFill>
                  <a:srgbClr val="16181D"/>
                </a:solidFill>
                <a:latin typeface="Segoe UI"/>
              </a:rPr>
              <a:t>Dado técnico</a:t>
            </a:r>
          </a:p>
          <a:p>
            <a:pPr lvl="1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</a:pPr>
            <a:r>
              <a:rPr sz="1600" b="0" i="0">
                <a:solidFill>
                  <a:srgbClr val="6A6E76"/>
                </a:solidFill>
                <a:latin typeface="Segoe UI"/>
              </a:rPr>
              <a:t>·  credencial, chave, endereço de infraestrutura, identificador de rede</a:t>
            </a:r>
          </a:p>
          <a:p>
            <a:pPr lvl="1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</a:pPr>
            <a:r>
              <a:rPr sz="1600" b="0" i="0">
                <a:solidFill>
                  <a:srgbClr val="6A6E76"/>
                </a:solidFill>
                <a:latin typeface="Segoe UI"/>
              </a:rPr>
              <a:t>·  régua: política da instituição e bom senso operacional</a:t>
            </a:r>
          </a:p>
          <a:p>
            <a:pPr>
              <a:lnSpc>
                <a:spcPct val="122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 i="0">
                <a:solidFill>
                  <a:srgbClr val="16181D"/>
                </a:solidFill>
                <a:latin typeface="Segoe UI"/>
              </a:rPr>
              <a:t>—  </a:t>
            </a:r>
            <a:r>
              <a:rPr sz="1900" b="1" i="0">
                <a:solidFill>
                  <a:srgbClr val="16181D"/>
                </a:solidFill>
                <a:latin typeface="Segoe UI"/>
              </a:rPr>
              <a:t>Dado de pessoa</a:t>
            </a:r>
          </a:p>
          <a:p>
            <a:pPr lvl="1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</a:pPr>
            <a:r>
              <a:rPr sz="1600" b="0" i="0">
                <a:solidFill>
                  <a:srgbClr val="6A6E76"/>
                </a:solidFill>
                <a:latin typeface="Segoe UI"/>
              </a:rPr>
              <a:t>·  prontuário, registro de aluno, resposta de questionário, qualquer coisa sob TCLE</a:t>
            </a:r>
          </a:p>
          <a:p>
            <a:pPr lvl="1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</a:pPr>
            <a:r>
              <a:rPr sz="1600" b="0" i="0">
                <a:solidFill>
                  <a:srgbClr val="6A6E76"/>
                </a:solidFill>
                <a:latin typeface="Segoe UI"/>
              </a:rPr>
              <a:t>·  régua: o protocolo de pesquisa e a LGPD, não o que a ferramenta permite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355080"/>
            <a:ext cx="990569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E76"/>
                </a:solidFill>
                <a:latin typeface="Segoe UI"/>
              </a:rPr>
              <a:t>Paulo E. R. Araujo · 5 · Aplicação em pesquisa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4375" y="6355080"/>
            <a:ext cx="548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E76"/>
                </a:solidFill>
                <a:latin typeface="Segoe UI"/>
              </a:rPr>
              <a:t>34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66928"/>
            <a:ext cx="1045433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16181D"/>
                </a:solidFill>
                <a:latin typeface="Georgia"/>
              </a:rPr>
              <a:t>A régua do dado de pessoa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335024"/>
            <a:ext cx="10454335" cy="12700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09343"/>
            <a:ext cx="10454335" cy="4562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6181D"/>
                </a:solidFill>
                <a:latin typeface="Segoe UI"/>
              </a:rPr>
              <a:t>—  Se o consentimento não previu processamento por serviço de terceiro, o dado não sai da máquina</a:t>
            </a:r>
          </a:p>
          <a:p>
            <a:pPr>
              <a:lnSpc>
                <a:spcPct val="122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 i="0">
                <a:solidFill>
                  <a:srgbClr val="16181D"/>
                </a:solidFill>
                <a:latin typeface="Segoe UI"/>
              </a:rPr>
              <a:t>—  Anonimização é decisão de projeto, não etapa improvisada na véspera</a:t>
            </a:r>
          </a:p>
          <a:p>
            <a:pPr>
              <a:lnSpc>
                <a:spcPct val="122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 i="0">
                <a:solidFill>
                  <a:srgbClr val="16181D"/>
                </a:solidFill>
                <a:latin typeface="Segoe UI"/>
              </a:rPr>
              <a:t>—  Na dúvida, o caminho é o comitê de ética, não a documentação da ferramenta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355080"/>
            <a:ext cx="990569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E76"/>
                </a:solidFill>
                <a:latin typeface="Segoe UI"/>
              </a:rPr>
              <a:t>Paulo E. R. Araujo · 5 · Aplicação em pesquisa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4375" y="6355080"/>
            <a:ext cx="548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E76"/>
                </a:solidFill>
                <a:latin typeface="Segoe UI"/>
              </a:rPr>
              <a:t>35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66928"/>
            <a:ext cx="1045433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16181D"/>
                </a:solidFill>
                <a:latin typeface="Georgia"/>
              </a:rPr>
              <a:t>Verificação e honestidade acadêmica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335024"/>
            <a:ext cx="10454335" cy="12700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09343"/>
            <a:ext cx="10454335" cy="4562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6181D"/>
                </a:solidFill>
                <a:latin typeface="Segoe UI"/>
              </a:rPr>
              <a:t>—  Saída plausível não é saída correta — o Bloco 1 já mostrou por quê</a:t>
            </a:r>
          </a:p>
          <a:p>
            <a:pPr>
              <a:lnSpc>
                <a:spcPct val="122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 i="0">
                <a:solidFill>
                  <a:srgbClr val="16181D"/>
                </a:solidFill>
                <a:latin typeface="Segoe UI"/>
              </a:rPr>
              <a:t>—  O que o modelo produz é rascunho até você rodar, conferir e reproduzir</a:t>
            </a:r>
          </a:p>
          <a:p>
            <a:pPr>
              <a:lnSpc>
                <a:spcPct val="122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 i="0">
                <a:solidFill>
                  <a:srgbClr val="16181D"/>
                </a:solidFill>
                <a:latin typeface="Segoe UI"/>
              </a:rPr>
              <a:t>—  Duas armadilhas específicas do nosso trabalho:</a:t>
            </a:r>
          </a:p>
          <a:p>
            <a:pPr lvl="1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</a:pPr>
            <a:r>
              <a:rPr sz="1600" b="0" i="0">
                <a:solidFill>
                  <a:srgbClr val="6A6E76"/>
                </a:solidFill>
                <a:latin typeface="Segoe UI"/>
              </a:rPr>
              <a:t>·  referência bibliográfica inventada com aparência perfeita</a:t>
            </a:r>
          </a:p>
          <a:p>
            <a:pPr lvl="1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</a:pPr>
            <a:r>
              <a:rPr sz="1600" b="0" i="0">
                <a:solidFill>
                  <a:srgbClr val="6A6E76"/>
                </a:solidFill>
                <a:latin typeface="Segoe UI"/>
              </a:rPr>
              <a:t>·  resultado numérico produzido sem que nada tenha sido executado</a:t>
            </a:r>
          </a:p>
          <a:p>
            <a:pPr>
              <a:lnSpc>
                <a:spcPct val="122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 i="0">
                <a:solidFill>
                  <a:srgbClr val="16181D"/>
                </a:solidFill>
                <a:latin typeface="Segoe UI"/>
              </a:rPr>
              <a:t>—  Declarar o uso conforme a norma do programa e do veículo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355080"/>
            <a:ext cx="990569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E76"/>
                </a:solidFill>
                <a:latin typeface="Segoe UI"/>
              </a:rPr>
              <a:t>Paulo E. R. Araujo · 5 · Aplicação em pesquisa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4375" y="6355080"/>
            <a:ext cx="548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E76"/>
                </a:solidFill>
                <a:latin typeface="Segoe UI"/>
              </a:rPr>
              <a:t>36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E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2331720"/>
            <a:ext cx="1463040" cy="31750"/>
          </a:xfrm>
          <a:prstGeom prst="rect">
            <a:avLst/>
          </a:prstGeom>
          <a:solidFill>
            <a:srgbClr val="BC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651760"/>
            <a:ext cx="10454335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1">
                <a:solidFill>
                  <a:srgbClr val="16181D"/>
                </a:solidFill>
                <a:latin typeface="Georgia"/>
              </a:rPr>
              <a:t>O agente acelera a parte mecânica e não assume nenhuma responsabilidade. A assinatura no paper é sua, então a verificação também é — e o dado que saiu do seu computador não volta.</a:t>
            </a:r>
          </a:p>
          <a:p>
            <a:pPr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</a:pPr>
            <a:r>
              <a:rPr sz="1300" b="0" i="0">
                <a:solidFill>
                  <a:srgbClr val="6A6E76"/>
                </a:solidFill>
                <a:latin typeface="Segoe UI"/>
              </a:rPr>
              <a:t>Âncora do Bloco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6355080"/>
            <a:ext cx="990569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E76"/>
                </a:solidFill>
                <a:latin typeface="Segoe UI"/>
              </a:rPr>
              <a:t>Paulo E. R. Araujo · 5 · Aplicação em pesquisa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74375" y="6355080"/>
            <a:ext cx="548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E76"/>
                </a:solidFill>
                <a:latin typeface="Segoe UI"/>
              </a:rPr>
              <a:t>37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2148840"/>
            <a:ext cx="1463040" cy="31750"/>
          </a:xfrm>
          <a:prstGeom prst="rect">
            <a:avLst/>
          </a:prstGeom>
          <a:solidFill>
            <a:srgbClr val="BC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468880"/>
            <a:ext cx="10454335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F7F6F2"/>
                </a:solidFill>
                <a:latin typeface="Georgia"/>
              </a:rPr>
              <a:t>Na próxima aula, vocês constroem</a:t>
            </a:r>
          </a:p>
          <a:p>
            <a:pPr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sz="1500" b="0" i="0">
                <a:solidFill>
                  <a:srgbClr val="F7F6F2"/>
                </a:solidFill>
                <a:latin typeface="Segoe UI"/>
              </a:rPr>
              <a:t>Um agente que busca o que saiu na semana anterior na sua área e escreve uma newsletter</a:t>
            </a:r>
          </a:p>
          <a:p>
            <a:pPr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sz="1500" b="0" i="0">
                <a:solidFill>
                  <a:srgbClr val="F7F6F2"/>
                </a:solidFill>
                <a:latin typeface="Segoe UI"/>
              </a:rPr>
              <a:t>Do zero: orquestrador, skills e material de apoio, escritos com o próprio agente</a:t>
            </a:r>
          </a:p>
          <a:p>
            <a:pPr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sz="1500" b="0" i="0">
                <a:solidFill>
                  <a:srgbClr val="F7F6F2"/>
                </a:solidFill>
                <a:latin typeface="Segoe UI"/>
              </a:rPr>
              <a:t>Para chegar pronto: Claude Code instalado e testado, e 4 a 6 fontes da sua área com as URLs</a:t>
            </a:r>
          </a:p>
          <a:p>
            <a:pPr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sz="1500" b="0" i="0">
                <a:solidFill>
                  <a:srgbClr val="F7F6F2"/>
                </a:solidFill>
                <a:latin typeface="Segoe UI"/>
              </a:rPr>
              <a:t>Quem chegar sem isso perde os primeiros quinze minutos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6355080"/>
            <a:ext cx="990569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E76"/>
                </a:solidFill>
                <a:latin typeface="Segoe UI"/>
              </a:rPr>
              <a:t>Paulo E. R. Araujo · 5 · Aplicação em pesquisa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74375" y="6355080"/>
            <a:ext cx="548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E76"/>
                </a:solidFill>
                <a:latin typeface="Segoe UI"/>
              </a:rPr>
              <a:t>37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66928"/>
            <a:ext cx="1045433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16181D"/>
                </a:solidFill>
                <a:latin typeface="Georgia"/>
              </a:rPr>
              <a:t>Referências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335024"/>
            <a:ext cx="10454335" cy="12700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09343"/>
            <a:ext cx="10454335" cy="4562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6181D"/>
                </a:solidFill>
                <a:latin typeface="Segoe UI"/>
              </a:rPr>
              <a:t>—  Documentação oficial do Claude Code — code.claude.com/docs, incluindo o glossário e "How Claude Code works", onde o harness é definido</a:t>
            </a:r>
          </a:p>
          <a:p>
            <a:pPr>
              <a:lnSpc>
                <a:spcPct val="122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 i="0">
                <a:solidFill>
                  <a:srgbClr val="16181D"/>
                </a:solidFill>
                <a:latin typeface="Segoe UI"/>
              </a:rPr>
              <a:t>—  Documentação de Agent Skills e do formato </a:t>
            </a:r>
            <a:r>
              <a:rPr sz="1748" b="0" i="0">
                <a:solidFill>
                  <a:srgbClr val="16181D"/>
                </a:solidFill>
                <a:latin typeface="Consolas"/>
              </a:rPr>
              <a:t>SKILL.md</a:t>
            </a:r>
          </a:p>
          <a:p>
            <a:pPr>
              <a:lnSpc>
                <a:spcPct val="122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 i="0">
                <a:solidFill>
                  <a:srgbClr val="16181D"/>
                </a:solidFill>
                <a:latin typeface="Segoe UI"/>
              </a:rPr>
              <a:t>—  Central de ajuda do Claude: Projects, memória, connectors e Cowork</a:t>
            </a:r>
          </a:p>
          <a:p>
            <a:pPr>
              <a:lnSpc>
                <a:spcPct val="122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 i="0">
                <a:solidFill>
                  <a:srgbClr val="16181D"/>
                </a:solidFill>
                <a:latin typeface="Segoe UI"/>
              </a:rPr>
              <a:t>—  Política de privacidade e de uso de dados da Anthropic</a:t>
            </a:r>
          </a:p>
          <a:p>
            <a:pPr>
              <a:lnSpc>
                <a:spcPct val="122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 i="0">
                <a:solidFill>
                  <a:srgbClr val="16181D"/>
                </a:solidFill>
                <a:latin typeface="Segoe UI"/>
              </a:rPr>
              <a:t>—  Espelho local consultado para esta aula, com data de captura registrada no repositório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355080"/>
            <a:ext cx="990569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E76"/>
                </a:solidFill>
                <a:latin typeface="Segoe UI"/>
              </a:rPr>
              <a:t>Paulo E. R. Araujo · Referências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4375" y="6355080"/>
            <a:ext cx="548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E76"/>
                </a:solidFill>
                <a:latin typeface="Segoe UI"/>
              </a:rPr>
              <a:t>38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